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Montserrat" charset="1" panose="00000500000000000000"/>
      <p:regular r:id="rId18"/>
    </p:embeddedFont>
    <p:embeddedFont>
      <p:font typeface="Montserrat Bold" charset="1" panose="00000800000000000000"/>
      <p:regular r:id="rId19"/>
    </p:embeddedFont>
    <p:embeddedFont>
      <p:font typeface="Montserrat Semi-Bold" charset="1" panose="00000700000000000000"/>
      <p:regular r:id="rId20"/>
    </p:embeddedFont>
    <p:embeddedFont>
      <p:font typeface="Montserrat Bold Italics" charset="1" panose="00000800000000000000"/>
      <p:regular r:id="rId21"/>
    </p:embeddedFont>
    <p:embeddedFont>
      <p:font typeface="Montserrat Semi-Bold Italics" charset="1" panose="000007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349972"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11812196" y="608914"/>
            <a:ext cx="1708381" cy="588932"/>
            <a:chOff x="0" y="0"/>
            <a:chExt cx="449944" cy="155110"/>
          </a:xfrm>
        </p:grpSpPr>
        <p:sp>
          <p:nvSpPr>
            <p:cNvPr name="Freeform 6" id="6"/>
            <p:cNvSpPr/>
            <p:nvPr/>
          </p:nvSpPr>
          <p:spPr>
            <a:xfrm flipH="false" flipV="false" rot="0">
              <a:off x="0" y="0"/>
              <a:ext cx="449944" cy="155110"/>
            </a:xfrm>
            <a:custGeom>
              <a:avLst/>
              <a:gdLst/>
              <a:ahLst/>
              <a:cxnLst/>
              <a:rect r="r" b="b" t="t" l="l"/>
              <a:pathLst>
                <a:path h="155110" w="449944">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49944"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sp>
        <p:nvSpPr>
          <p:cNvPr name="TextBox 9" id="9"/>
          <p:cNvSpPr txBox="true"/>
          <p:nvPr/>
        </p:nvSpPr>
        <p:spPr>
          <a:xfrm rot="0">
            <a:off x="4695876" y="746123"/>
            <a:ext cx="1662550" cy="315189"/>
          </a:xfrm>
          <a:prstGeom prst="rect">
            <a:avLst/>
          </a:prstGeom>
        </p:spPr>
        <p:txBody>
          <a:bodyPr anchor="t" rtlCol="false" tIns="0" lIns="0" bIns="0" rIns="0">
            <a:spAutoFit/>
          </a:bodyPr>
          <a:lstStyle/>
          <a:p>
            <a:pPr algn="ctr" marL="0" indent="0" lvl="0">
              <a:lnSpc>
                <a:spcPts val="2577"/>
              </a:lnSpc>
              <a:spcBef>
                <a:spcPct val="0"/>
              </a:spcBef>
            </a:pPr>
            <a:r>
              <a:rPr lang="en-US" sz="1840" spc="3">
                <a:solidFill>
                  <a:srgbClr val="101B40"/>
                </a:solidFill>
                <a:latin typeface="Montserrat"/>
                <a:ea typeface="Montserrat"/>
                <a:cs typeface="Montserrat"/>
                <a:sym typeface="Montserrat"/>
              </a:rPr>
              <a:t>TỔNG QUAN</a:t>
            </a:r>
          </a:p>
        </p:txBody>
      </p:sp>
      <p:sp>
        <p:nvSpPr>
          <p:cNvPr name="TextBox 10" id="10"/>
          <p:cNvSpPr txBox="true"/>
          <p:nvPr/>
        </p:nvSpPr>
        <p:spPr>
          <a:xfrm rot="0">
            <a:off x="6977551" y="731958"/>
            <a:ext cx="1907082" cy="315189"/>
          </a:xfrm>
          <a:prstGeom prst="rect">
            <a:avLst/>
          </a:prstGeom>
        </p:spPr>
        <p:txBody>
          <a:bodyPr anchor="t" rtlCol="false" tIns="0" lIns="0" bIns="0" rIns="0">
            <a:spAutoFit/>
          </a:bodyPr>
          <a:lstStyle/>
          <a:p>
            <a:pPr algn="ctr" marL="0" indent="0" lvl="0">
              <a:lnSpc>
                <a:spcPts val="2577"/>
              </a:lnSpc>
              <a:spcBef>
                <a:spcPct val="0"/>
              </a:spcBef>
            </a:pPr>
            <a:r>
              <a:rPr lang="en-US" sz="1840" spc="3">
                <a:solidFill>
                  <a:srgbClr val="101B40"/>
                </a:solidFill>
                <a:latin typeface="Montserrat"/>
                <a:ea typeface="Montserrat"/>
                <a:cs typeface="Montserrat"/>
                <a:sym typeface="Montserrat"/>
              </a:rPr>
              <a:t>KIẾN TRÚC</a:t>
            </a:r>
          </a:p>
        </p:txBody>
      </p:sp>
      <p:sp>
        <p:nvSpPr>
          <p:cNvPr name="TextBox 11" id="11"/>
          <p:cNvSpPr txBox="true"/>
          <p:nvPr/>
        </p:nvSpPr>
        <p:spPr>
          <a:xfrm rot="0">
            <a:off x="9499106" y="731958"/>
            <a:ext cx="1589190" cy="315189"/>
          </a:xfrm>
          <a:prstGeom prst="rect">
            <a:avLst/>
          </a:prstGeom>
        </p:spPr>
        <p:txBody>
          <a:bodyPr anchor="t" rtlCol="false" tIns="0" lIns="0" bIns="0" rIns="0">
            <a:spAutoFit/>
          </a:bodyPr>
          <a:lstStyle/>
          <a:p>
            <a:pPr algn="ctr" marL="0" indent="0" lvl="0">
              <a:lnSpc>
                <a:spcPts val="2577"/>
              </a:lnSpc>
              <a:spcBef>
                <a:spcPct val="0"/>
              </a:spcBef>
            </a:pPr>
            <a:r>
              <a:rPr lang="en-US" sz="1840" spc="3">
                <a:solidFill>
                  <a:srgbClr val="101B40"/>
                </a:solidFill>
                <a:latin typeface="Montserrat"/>
                <a:ea typeface="Montserrat"/>
                <a:cs typeface="Montserrat"/>
                <a:sym typeface="Montserrat"/>
              </a:rPr>
              <a:t>ỨNG DỤNG</a:t>
            </a:r>
          </a:p>
        </p:txBody>
      </p:sp>
      <p:sp>
        <p:nvSpPr>
          <p:cNvPr name="TextBox 12" id="12"/>
          <p:cNvSpPr txBox="true"/>
          <p:nvPr/>
        </p:nvSpPr>
        <p:spPr>
          <a:xfrm rot="0">
            <a:off x="11553899" y="729745"/>
            <a:ext cx="2224975" cy="315189"/>
          </a:xfrm>
          <a:prstGeom prst="rect">
            <a:avLst/>
          </a:prstGeom>
        </p:spPr>
        <p:txBody>
          <a:bodyPr anchor="t" rtlCol="false" tIns="0" lIns="0" bIns="0" rIns="0">
            <a:spAutoFit/>
          </a:bodyPr>
          <a:lstStyle/>
          <a:p>
            <a:pPr algn="ctr" marL="0" indent="0" lvl="0">
              <a:lnSpc>
                <a:spcPts val="2577"/>
              </a:lnSpc>
              <a:spcBef>
                <a:spcPct val="0"/>
              </a:spcBef>
            </a:pPr>
            <a:r>
              <a:rPr lang="en-US" b="true" sz="1840" spc="3">
                <a:solidFill>
                  <a:srgbClr val="F4F4F4"/>
                </a:solidFill>
                <a:latin typeface="Montserrat Bold"/>
                <a:ea typeface="Montserrat Bold"/>
                <a:cs typeface="Montserrat Bold"/>
                <a:sym typeface="Montserrat Bold"/>
              </a:rPr>
              <a:t>LIÊN HỆ</a:t>
            </a:r>
          </a:p>
        </p:txBody>
      </p:sp>
      <p:sp>
        <p:nvSpPr>
          <p:cNvPr name="TextBox 13" id="13"/>
          <p:cNvSpPr txBox="true"/>
          <p:nvPr/>
        </p:nvSpPr>
        <p:spPr>
          <a:xfrm rot="0">
            <a:off x="804572" y="618439"/>
            <a:ext cx="1888114" cy="550824"/>
          </a:xfrm>
          <a:prstGeom prst="rect">
            <a:avLst/>
          </a:prstGeom>
        </p:spPr>
        <p:txBody>
          <a:bodyPr anchor="t" rtlCol="false" tIns="0" lIns="0" bIns="0" rIns="0">
            <a:spAutoFit/>
          </a:bodyPr>
          <a:lstStyle/>
          <a:p>
            <a:pPr algn="l" marL="0" indent="0" lvl="0">
              <a:lnSpc>
                <a:spcPts val="2102"/>
              </a:lnSpc>
            </a:pPr>
            <a:r>
              <a:rPr lang="en-US" b="true" sz="1929" spc="3">
                <a:solidFill>
                  <a:srgbClr val="101B40"/>
                </a:solidFill>
                <a:latin typeface="Montserrat Bold"/>
                <a:ea typeface="Montserrat Bold"/>
                <a:cs typeface="Montserrat Bold"/>
                <a:sym typeface="Montserrat Bold"/>
              </a:rPr>
              <a:t>GIALAI</a:t>
            </a:r>
          </a:p>
          <a:p>
            <a:pPr algn="l" marL="0" indent="0" lvl="0">
              <a:lnSpc>
                <a:spcPts val="2102"/>
              </a:lnSpc>
            </a:pPr>
            <a:r>
              <a:rPr lang="en-US" b="true" sz="1929" spc="3">
                <a:solidFill>
                  <a:srgbClr val="101B40"/>
                </a:solidFill>
                <a:latin typeface="Montserrat Bold"/>
                <a:ea typeface="Montserrat Bold"/>
                <a:cs typeface="Montserrat Bold"/>
                <a:sym typeface="Montserrat Bold"/>
              </a:rPr>
              <a:t>ECOCHAIN 1.0</a:t>
            </a:r>
          </a:p>
        </p:txBody>
      </p:sp>
      <p:grpSp>
        <p:nvGrpSpPr>
          <p:cNvPr name="Group 14" id="14"/>
          <p:cNvGrpSpPr/>
          <p:nvPr/>
        </p:nvGrpSpPr>
        <p:grpSpPr>
          <a:xfrm rot="0">
            <a:off x="1028700" y="8277215"/>
            <a:ext cx="16230600" cy="981085"/>
            <a:chOff x="0" y="0"/>
            <a:chExt cx="4274726" cy="258393"/>
          </a:xfrm>
        </p:grpSpPr>
        <p:sp>
          <p:nvSpPr>
            <p:cNvPr name="Freeform 15" id="15"/>
            <p:cNvSpPr/>
            <p:nvPr/>
          </p:nvSpPr>
          <p:spPr>
            <a:xfrm flipH="false" flipV="false" rot="0">
              <a:off x="0" y="0"/>
              <a:ext cx="4274726" cy="258393"/>
            </a:xfrm>
            <a:custGeom>
              <a:avLst/>
              <a:gdLst/>
              <a:ahLst/>
              <a:cxnLst/>
              <a:rect r="r" b="b" t="t" l="l"/>
              <a:pathLst>
                <a:path h="258393" w="4274726">
                  <a:moveTo>
                    <a:pt x="12402" y="0"/>
                  </a:moveTo>
                  <a:lnTo>
                    <a:pt x="4262324" y="0"/>
                  </a:lnTo>
                  <a:cubicBezTo>
                    <a:pt x="4269174" y="0"/>
                    <a:pt x="4274726" y="5553"/>
                    <a:pt x="4274726" y="12402"/>
                  </a:cubicBezTo>
                  <a:lnTo>
                    <a:pt x="4274726" y="245991"/>
                  </a:lnTo>
                  <a:cubicBezTo>
                    <a:pt x="4274726" y="249280"/>
                    <a:pt x="4273419" y="252434"/>
                    <a:pt x="4271094" y="254760"/>
                  </a:cubicBezTo>
                  <a:cubicBezTo>
                    <a:pt x="4268768" y="257086"/>
                    <a:pt x="4265613" y="258393"/>
                    <a:pt x="4262324" y="258393"/>
                  </a:cubicBezTo>
                  <a:lnTo>
                    <a:pt x="12402" y="258393"/>
                  </a:lnTo>
                  <a:cubicBezTo>
                    <a:pt x="9113" y="258393"/>
                    <a:pt x="5958" y="257086"/>
                    <a:pt x="3632" y="254760"/>
                  </a:cubicBezTo>
                  <a:cubicBezTo>
                    <a:pt x="1307" y="252434"/>
                    <a:pt x="0" y="249280"/>
                    <a:pt x="0" y="245991"/>
                  </a:cubicBezTo>
                  <a:lnTo>
                    <a:pt x="0" y="12402"/>
                  </a:lnTo>
                  <a:cubicBezTo>
                    <a:pt x="0" y="9113"/>
                    <a:pt x="1307" y="5958"/>
                    <a:pt x="3632" y="3632"/>
                  </a:cubicBezTo>
                  <a:cubicBezTo>
                    <a:pt x="5958" y="1307"/>
                    <a:pt x="9113" y="0"/>
                    <a:pt x="12402" y="0"/>
                  </a:cubicBezTo>
                  <a:close/>
                </a:path>
              </a:pathLst>
            </a:custGeom>
            <a:solidFill>
              <a:srgbClr val="8FA4C1"/>
            </a:solidFill>
          </p:spPr>
        </p:sp>
        <p:sp>
          <p:nvSpPr>
            <p:cNvPr name="TextBox 16" id="16"/>
            <p:cNvSpPr txBox="true"/>
            <p:nvPr/>
          </p:nvSpPr>
          <p:spPr>
            <a:xfrm>
              <a:off x="0" y="-38100"/>
              <a:ext cx="4274726" cy="296493"/>
            </a:xfrm>
            <a:prstGeom prst="rect">
              <a:avLst/>
            </a:prstGeom>
          </p:spPr>
          <p:txBody>
            <a:bodyPr anchor="ctr" rtlCol="false" tIns="50800" lIns="50800" bIns="50800" rIns="50800"/>
            <a:lstStyle/>
            <a:p>
              <a:pPr algn="ctr" marL="0" indent="0" lvl="0">
                <a:lnSpc>
                  <a:spcPts val="2591"/>
                </a:lnSpc>
              </a:pPr>
            </a:p>
          </p:txBody>
        </p:sp>
      </p:grpSp>
      <p:sp>
        <p:nvSpPr>
          <p:cNvPr name="TextBox 17" id="17"/>
          <p:cNvSpPr txBox="true"/>
          <p:nvPr/>
        </p:nvSpPr>
        <p:spPr>
          <a:xfrm rot="0">
            <a:off x="1357066" y="8524763"/>
            <a:ext cx="4747340" cy="398145"/>
          </a:xfrm>
          <a:prstGeom prst="rect">
            <a:avLst/>
          </a:prstGeom>
        </p:spPr>
        <p:txBody>
          <a:bodyPr anchor="t" rtlCol="false" tIns="0" lIns="0" bIns="0" rIns="0">
            <a:spAutoFit/>
          </a:bodyPr>
          <a:lstStyle/>
          <a:p>
            <a:pPr algn="l" marL="0" indent="0" lvl="0">
              <a:lnSpc>
                <a:spcPts val="3254"/>
              </a:lnSpc>
            </a:pPr>
            <a:r>
              <a:rPr lang="en-US" sz="2325">
                <a:solidFill>
                  <a:srgbClr val="FFFFFF"/>
                </a:solidFill>
                <a:latin typeface="Montserrat"/>
                <a:ea typeface="Montserrat"/>
                <a:cs typeface="Montserrat"/>
                <a:sym typeface="Montserrat"/>
              </a:rPr>
              <a:t>gialai-ecochain.gov.vn</a:t>
            </a:r>
          </a:p>
        </p:txBody>
      </p:sp>
      <p:sp>
        <p:nvSpPr>
          <p:cNvPr name="TextBox 18" id="18"/>
          <p:cNvSpPr txBox="true"/>
          <p:nvPr/>
        </p:nvSpPr>
        <p:spPr>
          <a:xfrm rot="0">
            <a:off x="12250520" y="8524763"/>
            <a:ext cx="4747340" cy="398145"/>
          </a:xfrm>
          <a:prstGeom prst="rect">
            <a:avLst/>
          </a:prstGeom>
        </p:spPr>
        <p:txBody>
          <a:bodyPr anchor="t" rtlCol="false" tIns="0" lIns="0" bIns="0" rIns="0">
            <a:spAutoFit/>
          </a:bodyPr>
          <a:lstStyle/>
          <a:p>
            <a:pPr algn="r" marL="0" indent="0" lvl="0">
              <a:lnSpc>
                <a:spcPts val="3254"/>
              </a:lnSpc>
            </a:pPr>
            <a:r>
              <a:rPr lang="en-US" sz="2325">
                <a:solidFill>
                  <a:srgbClr val="FFFFFF"/>
                </a:solidFill>
                <a:latin typeface="Montserrat"/>
                <a:ea typeface="Montserrat"/>
                <a:cs typeface="Montserrat"/>
                <a:sym typeface="Montserrat"/>
              </a:rPr>
              <a:t>contact@gialai-ecochain.gov.vn</a:t>
            </a:r>
          </a:p>
        </p:txBody>
      </p:sp>
      <p:sp>
        <p:nvSpPr>
          <p:cNvPr name="TextBox 19" id="19"/>
          <p:cNvSpPr txBox="true"/>
          <p:nvPr/>
        </p:nvSpPr>
        <p:spPr>
          <a:xfrm rot="0">
            <a:off x="8496029" y="8540152"/>
            <a:ext cx="1274721" cy="398145"/>
          </a:xfrm>
          <a:prstGeom prst="rect">
            <a:avLst/>
          </a:prstGeom>
        </p:spPr>
        <p:txBody>
          <a:bodyPr anchor="t" rtlCol="false" tIns="0" lIns="0" bIns="0" rIns="0">
            <a:spAutoFit/>
          </a:bodyPr>
          <a:lstStyle/>
          <a:p>
            <a:pPr algn="ctr" marL="0" indent="0" lvl="0">
              <a:lnSpc>
                <a:spcPts val="3254"/>
              </a:lnSpc>
            </a:pPr>
            <a:r>
              <a:rPr lang="en-US" sz="2325">
                <a:solidFill>
                  <a:srgbClr val="FFFFFF"/>
                </a:solidFill>
                <a:latin typeface="Montserrat"/>
                <a:ea typeface="Montserrat"/>
                <a:cs typeface="Montserrat"/>
                <a:sym typeface="Montserrat"/>
              </a:rPr>
              <a:t>–</a:t>
            </a:r>
          </a:p>
        </p:txBody>
      </p:sp>
      <p:sp>
        <p:nvSpPr>
          <p:cNvPr name="Freeform 20" id="20"/>
          <p:cNvSpPr/>
          <p:nvPr/>
        </p:nvSpPr>
        <p:spPr>
          <a:xfrm flipH="false" flipV="false" rot="0">
            <a:off x="12422956" y="1656622"/>
            <a:ext cx="3545233" cy="5046595"/>
          </a:xfrm>
          <a:custGeom>
            <a:avLst/>
            <a:gdLst/>
            <a:ahLst/>
            <a:cxnLst/>
            <a:rect r="r" b="b" t="t" l="l"/>
            <a:pathLst>
              <a:path h="5046595" w="3545233">
                <a:moveTo>
                  <a:pt x="0" y="0"/>
                </a:moveTo>
                <a:lnTo>
                  <a:pt x="3545233" y="0"/>
                </a:lnTo>
                <a:lnTo>
                  <a:pt x="3545233" y="5046595"/>
                </a:lnTo>
                <a:lnTo>
                  <a:pt x="0" y="5046595"/>
                </a:lnTo>
                <a:lnTo>
                  <a:pt x="0" y="0"/>
                </a:lnTo>
                <a:close/>
              </a:path>
            </a:pathLst>
          </a:custGeom>
          <a:blipFill>
            <a:blip r:embed="rId4"/>
            <a:stretch>
              <a:fillRect l="0" t="0" r="0" b="0"/>
            </a:stretch>
          </a:blipFill>
        </p:spPr>
      </p:sp>
      <p:sp>
        <p:nvSpPr>
          <p:cNvPr name="TextBox 21" id="21"/>
          <p:cNvSpPr txBox="true"/>
          <p:nvPr/>
        </p:nvSpPr>
        <p:spPr>
          <a:xfrm rot="0">
            <a:off x="3332707" y="3656757"/>
            <a:ext cx="10225969" cy="1458168"/>
          </a:xfrm>
          <a:prstGeom prst="rect">
            <a:avLst/>
          </a:prstGeom>
        </p:spPr>
        <p:txBody>
          <a:bodyPr anchor="t" rtlCol="false" tIns="0" lIns="0" bIns="0" rIns="0">
            <a:spAutoFit/>
          </a:bodyPr>
          <a:lstStyle/>
          <a:p>
            <a:pPr algn="ctr" marL="0" indent="0" lvl="0">
              <a:lnSpc>
                <a:spcPts val="5507"/>
              </a:lnSpc>
            </a:pPr>
            <a:r>
              <a:rPr lang="en-US" b="true" sz="6119" spc="-354">
                <a:solidFill>
                  <a:srgbClr val="101B40"/>
                </a:solidFill>
                <a:latin typeface="Montserrat Bold"/>
                <a:ea typeface="Montserrat Bold"/>
                <a:cs typeface="Montserrat Bold"/>
                <a:sym typeface="Montserrat Bold"/>
              </a:rPr>
              <a:t>TỪ Ý TƯỞNG THỰC TẾ ĐƯA ĐẾN QUYẾT ĐỊNH</a:t>
            </a:r>
          </a:p>
        </p:txBody>
      </p:sp>
      <p:sp>
        <p:nvSpPr>
          <p:cNvPr name="TextBox 22" id="22"/>
          <p:cNvSpPr txBox="true"/>
          <p:nvPr/>
        </p:nvSpPr>
        <p:spPr>
          <a:xfrm rot="0">
            <a:off x="4801092" y="2331422"/>
            <a:ext cx="6467837" cy="588256"/>
          </a:xfrm>
          <a:prstGeom prst="rect">
            <a:avLst/>
          </a:prstGeom>
        </p:spPr>
        <p:txBody>
          <a:bodyPr anchor="t" rtlCol="false" tIns="0" lIns="0" bIns="0" rIns="0">
            <a:spAutoFit/>
          </a:bodyPr>
          <a:lstStyle/>
          <a:p>
            <a:pPr algn="ctr" marL="0" indent="0" lvl="0">
              <a:lnSpc>
                <a:spcPts val="4851"/>
              </a:lnSpc>
              <a:spcBef>
                <a:spcPct val="0"/>
              </a:spcBef>
            </a:pPr>
            <a:r>
              <a:rPr lang="en-US" sz="3465" spc="-200">
                <a:solidFill>
                  <a:srgbClr val="101B40"/>
                </a:solidFill>
                <a:latin typeface="Montserrat"/>
                <a:ea typeface="Montserrat"/>
                <a:cs typeface="Montserrat"/>
                <a:sym typeface="Montserrat"/>
              </a:rPr>
              <a:t>Provincial Eco-Operating System</a:t>
            </a:r>
          </a:p>
        </p:txBody>
      </p:sp>
      <p:sp>
        <p:nvSpPr>
          <p:cNvPr name="TextBox 23" id="23"/>
          <p:cNvSpPr txBox="true"/>
          <p:nvPr/>
        </p:nvSpPr>
        <p:spPr>
          <a:xfrm rot="0">
            <a:off x="4518765" y="5821533"/>
            <a:ext cx="7853853" cy="1300226"/>
          </a:xfrm>
          <a:prstGeom prst="rect">
            <a:avLst/>
          </a:prstGeom>
        </p:spPr>
        <p:txBody>
          <a:bodyPr anchor="t" rtlCol="false" tIns="0" lIns="0" bIns="0" rIns="0">
            <a:spAutoFit/>
          </a:bodyPr>
          <a:lstStyle/>
          <a:p>
            <a:pPr algn="ctr" marL="0" indent="0" lvl="0">
              <a:lnSpc>
                <a:spcPts val="3471"/>
              </a:lnSpc>
            </a:pPr>
            <a:r>
              <a:rPr lang="en-US" sz="2799" spc="-179">
                <a:solidFill>
                  <a:srgbClr val="000000"/>
                </a:solidFill>
                <a:latin typeface="Montserrat"/>
                <a:ea typeface="Montserrat"/>
                <a:cs typeface="Montserrat"/>
                <a:sym typeface="Montserrat"/>
              </a:rPr>
              <a:t>Nền tảng AI/GIS tích hợp — biến dữ liệu môi trường thành khả năng hiểu không gian và hỗ trợ ra quyết định cho tỉnh Gia Lai.</a:t>
            </a:r>
          </a:p>
        </p:txBody>
      </p:sp>
      <p:grpSp>
        <p:nvGrpSpPr>
          <p:cNvPr name="Group 24" id="24"/>
          <p:cNvGrpSpPr/>
          <p:nvPr/>
        </p:nvGrpSpPr>
        <p:grpSpPr>
          <a:xfrm rot="-5400000">
            <a:off x="210776" y="5585226"/>
            <a:ext cx="3075708" cy="776477"/>
            <a:chOff x="0" y="0"/>
            <a:chExt cx="810063" cy="204504"/>
          </a:xfrm>
        </p:grpSpPr>
        <p:sp>
          <p:nvSpPr>
            <p:cNvPr name="Freeform 25" id="25"/>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26" id="26"/>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7" id="27"/>
          <p:cNvGrpSpPr/>
          <p:nvPr/>
        </p:nvGrpSpPr>
        <p:grpSpPr>
          <a:xfrm rot="-5400000">
            <a:off x="1458033" y="4571582"/>
            <a:ext cx="581194" cy="581194"/>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0" id="30"/>
          <p:cNvGrpSpPr/>
          <p:nvPr/>
        </p:nvGrpSpPr>
        <p:grpSpPr>
          <a:xfrm rot="5400000">
            <a:off x="15100104" y="3188832"/>
            <a:ext cx="3075708" cy="776477"/>
            <a:chOff x="0" y="0"/>
            <a:chExt cx="810063" cy="204504"/>
          </a:xfrm>
        </p:grpSpPr>
        <p:sp>
          <p:nvSpPr>
            <p:cNvPr name="Freeform 31" id="31"/>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32" id="32"/>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33" id="33"/>
          <p:cNvGrpSpPr/>
          <p:nvPr/>
        </p:nvGrpSpPr>
        <p:grpSpPr>
          <a:xfrm rot="5400000">
            <a:off x="16347361" y="4397760"/>
            <a:ext cx="581194" cy="581194"/>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30097" y="52580"/>
            <a:ext cx="17587469" cy="9603920"/>
            <a:chOff x="0" y="0"/>
            <a:chExt cx="4632091" cy="2529427"/>
          </a:xfrm>
        </p:grpSpPr>
        <p:sp>
          <p:nvSpPr>
            <p:cNvPr name="Freeform 3" id="3"/>
            <p:cNvSpPr/>
            <p:nvPr/>
          </p:nvSpPr>
          <p:spPr>
            <a:xfrm flipH="false" flipV="false" rot="0">
              <a:off x="0" y="0"/>
              <a:ext cx="4632091" cy="2529427"/>
            </a:xfrm>
            <a:custGeom>
              <a:avLst/>
              <a:gdLst/>
              <a:ahLst/>
              <a:cxnLst/>
              <a:rect r="r" b="b" t="t" l="l"/>
              <a:pathLst>
                <a:path h="2529427" w="4632091">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name="TextBox 4" id="4"/>
            <p:cNvSpPr txBox="true"/>
            <p:nvPr/>
          </p:nvSpPr>
          <p:spPr>
            <a:xfrm>
              <a:off x="0" y="-38100"/>
              <a:ext cx="4632091" cy="2567527"/>
            </a:xfrm>
            <a:prstGeom prst="rect">
              <a:avLst/>
            </a:prstGeom>
          </p:spPr>
          <p:txBody>
            <a:bodyPr anchor="ctr" rtlCol="false" tIns="50800" lIns="50800" bIns="50800" rIns="50800"/>
            <a:lstStyle/>
            <a:p>
              <a:pPr algn="ctr" marL="0" indent="0" lvl="0">
                <a:lnSpc>
                  <a:spcPts val="2591"/>
                </a:lnSpc>
              </a:pPr>
            </a:p>
          </p:txBody>
        </p:sp>
      </p:grpSp>
      <p:grpSp>
        <p:nvGrpSpPr>
          <p:cNvPr name="Group 5" id="5"/>
          <p:cNvGrpSpPr/>
          <p:nvPr/>
        </p:nvGrpSpPr>
        <p:grpSpPr>
          <a:xfrm rot="0">
            <a:off x="4409081" y="762000"/>
            <a:ext cx="9469839" cy="814592"/>
            <a:chOff x="0" y="0"/>
            <a:chExt cx="2494114" cy="214543"/>
          </a:xfrm>
        </p:grpSpPr>
        <p:sp>
          <p:nvSpPr>
            <p:cNvPr name="Freeform 6" id="6"/>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7" id="7"/>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8" id="8"/>
          <p:cNvGrpSpPr/>
          <p:nvPr/>
        </p:nvGrpSpPr>
        <p:grpSpPr>
          <a:xfrm rot="0">
            <a:off x="9460786" y="874830"/>
            <a:ext cx="1665830" cy="588932"/>
            <a:chOff x="0" y="0"/>
            <a:chExt cx="438737" cy="155110"/>
          </a:xfrm>
        </p:grpSpPr>
        <p:sp>
          <p:nvSpPr>
            <p:cNvPr name="Freeform 9" id="9"/>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10" id="10"/>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11" id="11"/>
          <p:cNvSpPr/>
          <p:nvPr/>
        </p:nvSpPr>
        <p:spPr>
          <a:xfrm flipH="false" flipV="false" rot="0">
            <a:off x="16736419" y="924288"/>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12" id="12"/>
          <p:cNvGrpSpPr/>
          <p:nvPr/>
        </p:nvGrpSpPr>
        <p:grpSpPr>
          <a:xfrm rot="0">
            <a:off x="16465001" y="8346801"/>
            <a:ext cx="1822999" cy="18229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5" id="15"/>
          <p:cNvGrpSpPr/>
          <p:nvPr/>
        </p:nvGrpSpPr>
        <p:grpSpPr>
          <a:xfrm rot="0">
            <a:off x="17035435" y="8917235"/>
            <a:ext cx="682130" cy="6821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8" id="18"/>
          <p:cNvGrpSpPr/>
          <p:nvPr/>
        </p:nvGrpSpPr>
        <p:grpSpPr>
          <a:xfrm rot="0">
            <a:off x="-1014013" y="7723491"/>
            <a:ext cx="2728557" cy="2387487"/>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1F1F1"/>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591"/>
                </a:lnSpc>
              </a:pPr>
            </a:p>
          </p:txBody>
        </p:sp>
      </p:grpSp>
      <p:grpSp>
        <p:nvGrpSpPr>
          <p:cNvPr name="Group 21" id="21"/>
          <p:cNvGrpSpPr/>
          <p:nvPr/>
        </p:nvGrpSpPr>
        <p:grpSpPr>
          <a:xfrm rot="0">
            <a:off x="1230046" y="2421605"/>
            <a:ext cx="5879177" cy="3912159"/>
            <a:chOff x="0" y="0"/>
            <a:chExt cx="910838" cy="606096"/>
          </a:xfrm>
        </p:grpSpPr>
        <p:sp>
          <p:nvSpPr>
            <p:cNvPr name="Freeform 22" id="22"/>
            <p:cNvSpPr/>
            <p:nvPr/>
          </p:nvSpPr>
          <p:spPr>
            <a:xfrm flipH="false" flipV="false" rot="0">
              <a:off x="0" y="0"/>
              <a:ext cx="910838" cy="606096"/>
            </a:xfrm>
            <a:custGeom>
              <a:avLst/>
              <a:gdLst/>
              <a:ahLst/>
              <a:cxnLst/>
              <a:rect r="r" b="b" t="t" l="l"/>
              <a:pathLst>
                <a:path h="606096" w="910838">
                  <a:moveTo>
                    <a:pt x="42139" y="0"/>
                  </a:moveTo>
                  <a:lnTo>
                    <a:pt x="868699" y="0"/>
                  </a:lnTo>
                  <a:cubicBezTo>
                    <a:pt x="891972" y="0"/>
                    <a:pt x="910838" y="18866"/>
                    <a:pt x="910838" y="42139"/>
                  </a:cubicBezTo>
                  <a:lnTo>
                    <a:pt x="910838" y="563957"/>
                  </a:lnTo>
                  <a:cubicBezTo>
                    <a:pt x="910838" y="587230"/>
                    <a:pt x="891972" y="606096"/>
                    <a:pt x="868699" y="606096"/>
                  </a:cubicBezTo>
                  <a:lnTo>
                    <a:pt x="42139" y="606096"/>
                  </a:lnTo>
                  <a:cubicBezTo>
                    <a:pt x="18866" y="606096"/>
                    <a:pt x="0" y="587230"/>
                    <a:pt x="0" y="563957"/>
                  </a:cubicBezTo>
                  <a:lnTo>
                    <a:pt x="0" y="42139"/>
                  </a:lnTo>
                  <a:cubicBezTo>
                    <a:pt x="0" y="18866"/>
                    <a:pt x="18866" y="0"/>
                    <a:pt x="42139" y="0"/>
                  </a:cubicBezTo>
                  <a:close/>
                </a:path>
              </a:pathLst>
            </a:custGeom>
            <a:blipFill>
              <a:blip r:embed="rId4"/>
              <a:stretch>
                <a:fillRect l="0" t="-343" r="0" b="-343"/>
              </a:stretch>
            </a:blipFill>
          </p:spPr>
        </p:sp>
      </p:grpSp>
      <p:grpSp>
        <p:nvGrpSpPr>
          <p:cNvPr name="Group 23" id="23"/>
          <p:cNvGrpSpPr/>
          <p:nvPr/>
        </p:nvGrpSpPr>
        <p:grpSpPr>
          <a:xfrm rot="0">
            <a:off x="1714544" y="6795809"/>
            <a:ext cx="3731952" cy="2538691"/>
            <a:chOff x="0" y="0"/>
            <a:chExt cx="982901" cy="668626"/>
          </a:xfrm>
        </p:grpSpPr>
        <p:sp>
          <p:nvSpPr>
            <p:cNvPr name="Freeform 24" id="24"/>
            <p:cNvSpPr/>
            <p:nvPr/>
          </p:nvSpPr>
          <p:spPr>
            <a:xfrm flipH="false" flipV="false" rot="0">
              <a:off x="0" y="0"/>
              <a:ext cx="982901" cy="668626"/>
            </a:xfrm>
            <a:custGeom>
              <a:avLst/>
              <a:gdLst/>
              <a:ahLst/>
              <a:cxnLst/>
              <a:rect r="r" b="b" t="t" l="l"/>
              <a:pathLst>
                <a:path h="668626" w="982901">
                  <a:moveTo>
                    <a:pt x="105799" y="0"/>
                  </a:moveTo>
                  <a:lnTo>
                    <a:pt x="877102" y="0"/>
                  </a:lnTo>
                  <a:cubicBezTo>
                    <a:pt x="935533" y="0"/>
                    <a:pt x="982901" y="47368"/>
                    <a:pt x="982901" y="105799"/>
                  </a:cubicBezTo>
                  <a:lnTo>
                    <a:pt x="982901" y="562827"/>
                  </a:lnTo>
                  <a:cubicBezTo>
                    <a:pt x="982901" y="621258"/>
                    <a:pt x="935533" y="668626"/>
                    <a:pt x="877102" y="668626"/>
                  </a:cubicBezTo>
                  <a:lnTo>
                    <a:pt x="105799" y="668626"/>
                  </a:lnTo>
                  <a:cubicBezTo>
                    <a:pt x="47368" y="668626"/>
                    <a:pt x="0" y="621258"/>
                    <a:pt x="0" y="562827"/>
                  </a:cubicBezTo>
                  <a:lnTo>
                    <a:pt x="0" y="105799"/>
                  </a:lnTo>
                  <a:cubicBezTo>
                    <a:pt x="0" y="47368"/>
                    <a:pt x="47368" y="0"/>
                    <a:pt x="105799" y="0"/>
                  </a:cubicBezTo>
                  <a:close/>
                </a:path>
              </a:pathLst>
            </a:custGeom>
            <a:solidFill>
              <a:srgbClr val="8FA4C1"/>
            </a:solidFill>
          </p:spPr>
        </p:sp>
        <p:sp>
          <p:nvSpPr>
            <p:cNvPr name="TextBox 25" id="25"/>
            <p:cNvSpPr txBox="true"/>
            <p:nvPr/>
          </p:nvSpPr>
          <p:spPr>
            <a:xfrm>
              <a:off x="0" y="-38100"/>
              <a:ext cx="982901" cy="706726"/>
            </a:xfrm>
            <a:prstGeom prst="rect">
              <a:avLst/>
            </a:prstGeom>
          </p:spPr>
          <p:txBody>
            <a:bodyPr anchor="ctr" rtlCol="false" tIns="50800" lIns="50800" bIns="50800" rIns="50800"/>
            <a:lstStyle/>
            <a:p>
              <a:pPr algn="ctr" marL="0" indent="0" lvl="0">
                <a:lnSpc>
                  <a:spcPts val="2591"/>
                </a:lnSpc>
              </a:pPr>
            </a:p>
          </p:txBody>
        </p:sp>
      </p:grpSp>
      <p:grpSp>
        <p:nvGrpSpPr>
          <p:cNvPr name="Group 26" id="26"/>
          <p:cNvGrpSpPr/>
          <p:nvPr/>
        </p:nvGrpSpPr>
        <p:grpSpPr>
          <a:xfrm rot="0">
            <a:off x="1901030" y="7077066"/>
            <a:ext cx="3309524" cy="855187"/>
            <a:chOff x="0" y="0"/>
            <a:chExt cx="871644" cy="225234"/>
          </a:xfrm>
        </p:grpSpPr>
        <p:sp>
          <p:nvSpPr>
            <p:cNvPr name="Freeform 27" id="27"/>
            <p:cNvSpPr/>
            <p:nvPr/>
          </p:nvSpPr>
          <p:spPr>
            <a:xfrm flipH="false" flipV="false" rot="0">
              <a:off x="0" y="0"/>
              <a:ext cx="871644" cy="225234"/>
            </a:xfrm>
            <a:custGeom>
              <a:avLst/>
              <a:gdLst/>
              <a:ahLst/>
              <a:cxnLst/>
              <a:rect r="r" b="b" t="t" l="l"/>
              <a:pathLst>
                <a:path h="225234" w="871644">
                  <a:moveTo>
                    <a:pt x="112617" y="0"/>
                  </a:moveTo>
                  <a:lnTo>
                    <a:pt x="759027" y="0"/>
                  </a:lnTo>
                  <a:cubicBezTo>
                    <a:pt x="821224" y="0"/>
                    <a:pt x="871644" y="50420"/>
                    <a:pt x="871644" y="112617"/>
                  </a:cubicBezTo>
                  <a:lnTo>
                    <a:pt x="871644" y="112617"/>
                  </a:lnTo>
                  <a:cubicBezTo>
                    <a:pt x="871644" y="174814"/>
                    <a:pt x="821224" y="225234"/>
                    <a:pt x="759027" y="225234"/>
                  </a:cubicBezTo>
                  <a:lnTo>
                    <a:pt x="112617" y="225234"/>
                  </a:lnTo>
                  <a:cubicBezTo>
                    <a:pt x="50420" y="225234"/>
                    <a:pt x="0" y="174814"/>
                    <a:pt x="0" y="112617"/>
                  </a:cubicBezTo>
                  <a:lnTo>
                    <a:pt x="0" y="112617"/>
                  </a:lnTo>
                  <a:cubicBezTo>
                    <a:pt x="0" y="50420"/>
                    <a:pt x="50420" y="0"/>
                    <a:pt x="112617" y="0"/>
                  </a:cubicBezTo>
                  <a:close/>
                </a:path>
              </a:pathLst>
            </a:custGeom>
            <a:solidFill>
              <a:srgbClr val="FFFFFF"/>
            </a:solidFill>
          </p:spPr>
        </p:sp>
        <p:sp>
          <p:nvSpPr>
            <p:cNvPr name="TextBox 28" id="28"/>
            <p:cNvSpPr txBox="true"/>
            <p:nvPr/>
          </p:nvSpPr>
          <p:spPr>
            <a:xfrm>
              <a:off x="0" y="-38100"/>
              <a:ext cx="871644" cy="263334"/>
            </a:xfrm>
            <a:prstGeom prst="rect">
              <a:avLst/>
            </a:prstGeom>
          </p:spPr>
          <p:txBody>
            <a:bodyPr anchor="ctr" rtlCol="false" tIns="50800" lIns="50800" bIns="50800" rIns="50800"/>
            <a:lstStyle/>
            <a:p>
              <a:pPr algn="ctr" marL="0" indent="0" lvl="0">
                <a:lnSpc>
                  <a:spcPts val="2591"/>
                </a:lnSpc>
              </a:pPr>
            </a:p>
          </p:txBody>
        </p:sp>
      </p:grpSp>
      <p:grpSp>
        <p:nvGrpSpPr>
          <p:cNvPr name="Group 29" id="29"/>
          <p:cNvGrpSpPr/>
          <p:nvPr/>
        </p:nvGrpSpPr>
        <p:grpSpPr>
          <a:xfrm rot="0">
            <a:off x="4259572" y="7174707"/>
            <a:ext cx="581194" cy="58119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2" id="32"/>
          <p:cNvGrpSpPr/>
          <p:nvPr/>
        </p:nvGrpSpPr>
        <p:grpSpPr>
          <a:xfrm rot="0">
            <a:off x="6944966" y="6748851"/>
            <a:ext cx="3726130" cy="2632607"/>
            <a:chOff x="0" y="0"/>
            <a:chExt cx="981367" cy="693361"/>
          </a:xfrm>
        </p:grpSpPr>
        <p:sp>
          <p:nvSpPr>
            <p:cNvPr name="Freeform 33" id="33"/>
            <p:cNvSpPr/>
            <p:nvPr/>
          </p:nvSpPr>
          <p:spPr>
            <a:xfrm flipH="false" flipV="false" rot="0">
              <a:off x="0" y="0"/>
              <a:ext cx="981367" cy="693361"/>
            </a:xfrm>
            <a:custGeom>
              <a:avLst/>
              <a:gdLst/>
              <a:ahLst/>
              <a:cxnLst/>
              <a:rect r="r" b="b" t="t" l="l"/>
              <a:pathLst>
                <a:path h="693361" w="981367">
                  <a:moveTo>
                    <a:pt x="105965" y="0"/>
                  </a:moveTo>
                  <a:lnTo>
                    <a:pt x="875403" y="0"/>
                  </a:lnTo>
                  <a:cubicBezTo>
                    <a:pt x="933925" y="0"/>
                    <a:pt x="981367" y="47442"/>
                    <a:pt x="981367" y="105965"/>
                  </a:cubicBezTo>
                  <a:lnTo>
                    <a:pt x="981367" y="587397"/>
                  </a:lnTo>
                  <a:cubicBezTo>
                    <a:pt x="981367" y="615500"/>
                    <a:pt x="970203" y="642453"/>
                    <a:pt x="950331" y="662325"/>
                  </a:cubicBezTo>
                  <a:cubicBezTo>
                    <a:pt x="930459" y="682197"/>
                    <a:pt x="903506" y="693361"/>
                    <a:pt x="875403" y="693361"/>
                  </a:cubicBezTo>
                  <a:lnTo>
                    <a:pt x="105965" y="693361"/>
                  </a:lnTo>
                  <a:cubicBezTo>
                    <a:pt x="47442" y="693361"/>
                    <a:pt x="0" y="645919"/>
                    <a:pt x="0" y="587397"/>
                  </a:cubicBezTo>
                  <a:lnTo>
                    <a:pt x="0" y="105965"/>
                  </a:lnTo>
                  <a:cubicBezTo>
                    <a:pt x="0" y="47442"/>
                    <a:pt x="47442" y="0"/>
                    <a:pt x="105965" y="0"/>
                  </a:cubicBezTo>
                  <a:close/>
                </a:path>
              </a:pathLst>
            </a:custGeom>
            <a:solidFill>
              <a:srgbClr val="8FA4C1"/>
            </a:solidFill>
          </p:spPr>
        </p:sp>
        <p:sp>
          <p:nvSpPr>
            <p:cNvPr name="TextBox 34" id="34"/>
            <p:cNvSpPr txBox="true"/>
            <p:nvPr/>
          </p:nvSpPr>
          <p:spPr>
            <a:xfrm>
              <a:off x="0" y="-38100"/>
              <a:ext cx="981367" cy="731461"/>
            </a:xfrm>
            <a:prstGeom prst="rect">
              <a:avLst/>
            </a:prstGeom>
          </p:spPr>
          <p:txBody>
            <a:bodyPr anchor="ctr" rtlCol="false" tIns="50800" lIns="50800" bIns="50800" rIns="50800"/>
            <a:lstStyle/>
            <a:p>
              <a:pPr algn="ctr" marL="0" indent="0" lvl="0">
                <a:lnSpc>
                  <a:spcPts val="2591"/>
                </a:lnSpc>
              </a:pPr>
            </a:p>
          </p:txBody>
        </p:sp>
      </p:grpSp>
      <p:grpSp>
        <p:nvGrpSpPr>
          <p:cNvPr name="Group 35" id="35"/>
          <p:cNvGrpSpPr/>
          <p:nvPr/>
        </p:nvGrpSpPr>
        <p:grpSpPr>
          <a:xfrm rot="0">
            <a:off x="7145565" y="6991309"/>
            <a:ext cx="3148135" cy="840682"/>
            <a:chOff x="0" y="0"/>
            <a:chExt cx="829139" cy="221414"/>
          </a:xfrm>
        </p:grpSpPr>
        <p:sp>
          <p:nvSpPr>
            <p:cNvPr name="Freeform 36" id="36"/>
            <p:cNvSpPr/>
            <p:nvPr/>
          </p:nvSpPr>
          <p:spPr>
            <a:xfrm flipH="false" flipV="false" rot="0">
              <a:off x="0" y="0"/>
              <a:ext cx="829139" cy="221414"/>
            </a:xfrm>
            <a:custGeom>
              <a:avLst/>
              <a:gdLst/>
              <a:ahLst/>
              <a:cxnLst/>
              <a:rect r="r" b="b" t="t" l="l"/>
              <a:pathLst>
                <a:path h="221414" w="829139">
                  <a:moveTo>
                    <a:pt x="110707" y="0"/>
                  </a:moveTo>
                  <a:lnTo>
                    <a:pt x="718431" y="0"/>
                  </a:lnTo>
                  <a:cubicBezTo>
                    <a:pt x="779573" y="0"/>
                    <a:pt x="829139" y="49565"/>
                    <a:pt x="829139" y="110707"/>
                  </a:cubicBezTo>
                  <a:lnTo>
                    <a:pt x="829139" y="110707"/>
                  </a:lnTo>
                  <a:cubicBezTo>
                    <a:pt x="829139" y="171849"/>
                    <a:pt x="779573" y="221414"/>
                    <a:pt x="718431" y="221414"/>
                  </a:cubicBezTo>
                  <a:lnTo>
                    <a:pt x="110707" y="221414"/>
                  </a:lnTo>
                  <a:cubicBezTo>
                    <a:pt x="49565" y="221414"/>
                    <a:pt x="0" y="171849"/>
                    <a:pt x="0" y="110707"/>
                  </a:cubicBezTo>
                  <a:lnTo>
                    <a:pt x="0" y="110707"/>
                  </a:lnTo>
                  <a:cubicBezTo>
                    <a:pt x="0" y="49565"/>
                    <a:pt x="49565" y="0"/>
                    <a:pt x="110707" y="0"/>
                  </a:cubicBezTo>
                  <a:close/>
                </a:path>
              </a:pathLst>
            </a:custGeom>
            <a:solidFill>
              <a:srgbClr val="FFFFFF"/>
            </a:solidFill>
          </p:spPr>
        </p:sp>
        <p:sp>
          <p:nvSpPr>
            <p:cNvPr name="TextBox 37" id="37"/>
            <p:cNvSpPr txBox="true"/>
            <p:nvPr/>
          </p:nvSpPr>
          <p:spPr>
            <a:xfrm>
              <a:off x="0" y="-38100"/>
              <a:ext cx="829139" cy="259514"/>
            </a:xfrm>
            <a:prstGeom prst="rect">
              <a:avLst/>
            </a:prstGeom>
          </p:spPr>
          <p:txBody>
            <a:bodyPr anchor="ctr" rtlCol="false" tIns="50800" lIns="50800" bIns="50800" rIns="50800"/>
            <a:lstStyle/>
            <a:p>
              <a:pPr algn="ctr" marL="0" indent="0" lvl="0">
                <a:lnSpc>
                  <a:spcPts val="2591"/>
                </a:lnSpc>
              </a:pPr>
            </a:p>
          </p:txBody>
        </p:sp>
      </p:grpSp>
      <p:grpSp>
        <p:nvGrpSpPr>
          <p:cNvPr name="Group 38" id="38"/>
          <p:cNvGrpSpPr/>
          <p:nvPr/>
        </p:nvGrpSpPr>
        <p:grpSpPr>
          <a:xfrm rot="0">
            <a:off x="9653360" y="7112340"/>
            <a:ext cx="548784" cy="54878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41" id="41"/>
          <p:cNvGrpSpPr/>
          <p:nvPr/>
        </p:nvGrpSpPr>
        <p:grpSpPr>
          <a:xfrm rot="0">
            <a:off x="11985545" y="6795809"/>
            <a:ext cx="3739597" cy="2632607"/>
            <a:chOff x="0" y="0"/>
            <a:chExt cx="984914" cy="693361"/>
          </a:xfrm>
        </p:grpSpPr>
        <p:sp>
          <p:nvSpPr>
            <p:cNvPr name="Freeform 42" id="42"/>
            <p:cNvSpPr/>
            <p:nvPr/>
          </p:nvSpPr>
          <p:spPr>
            <a:xfrm flipH="false" flipV="false" rot="0">
              <a:off x="0" y="0"/>
              <a:ext cx="984914" cy="693361"/>
            </a:xfrm>
            <a:custGeom>
              <a:avLst/>
              <a:gdLst/>
              <a:ahLst/>
              <a:cxnLst/>
              <a:rect r="r" b="b" t="t" l="l"/>
              <a:pathLst>
                <a:path h="693361" w="984914">
                  <a:moveTo>
                    <a:pt x="105583" y="0"/>
                  </a:moveTo>
                  <a:lnTo>
                    <a:pt x="879331" y="0"/>
                  </a:lnTo>
                  <a:cubicBezTo>
                    <a:pt x="907334" y="0"/>
                    <a:pt x="934189" y="11124"/>
                    <a:pt x="953990" y="30925"/>
                  </a:cubicBezTo>
                  <a:cubicBezTo>
                    <a:pt x="973790" y="50725"/>
                    <a:pt x="984914" y="77581"/>
                    <a:pt x="984914" y="105583"/>
                  </a:cubicBezTo>
                  <a:lnTo>
                    <a:pt x="984914" y="587778"/>
                  </a:lnTo>
                  <a:cubicBezTo>
                    <a:pt x="984914" y="615781"/>
                    <a:pt x="973790" y="642636"/>
                    <a:pt x="953990" y="662437"/>
                  </a:cubicBezTo>
                  <a:cubicBezTo>
                    <a:pt x="934189" y="682238"/>
                    <a:pt x="907334" y="693361"/>
                    <a:pt x="879331" y="693361"/>
                  </a:cubicBezTo>
                  <a:lnTo>
                    <a:pt x="105583" y="693361"/>
                  </a:lnTo>
                  <a:cubicBezTo>
                    <a:pt x="77581" y="693361"/>
                    <a:pt x="50725" y="682238"/>
                    <a:pt x="30925" y="662437"/>
                  </a:cubicBezTo>
                  <a:cubicBezTo>
                    <a:pt x="11124" y="642636"/>
                    <a:pt x="0" y="615781"/>
                    <a:pt x="0" y="587778"/>
                  </a:cubicBezTo>
                  <a:lnTo>
                    <a:pt x="0" y="105583"/>
                  </a:lnTo>
                  <a:cubicBezTo>
                    <a:pt x="0" y="77581"/>
                    <a:pt x="11124" y="50725"/>
                    <a:pt x="30925" y="30925"/>
                  </a:cubicBezTo>
                  <a:cubicBezTo>
                    <a:pt x="50725" y="11124"/>
                    <a:pt x="77581" y="0"/>
                    <a:pt x="105583" y="0"/>
                  </a:cubicBezTo>
                  <a:close/>
                </a:path>
              </a:pathLst>
            </a:custGeom>
            <a:solidFill>
              <a:srgbClr val="8FA4C1"/>
            </a:solidFill>
          </p:spPr>
        </p:sp>
        <p:sp>
          <p:nvSpPr>
            <p:cNvPr name="TextBox 43" id="43"/>
            <p:cNvSpPr txBox="true"/>
            <p:nvPr/>
          </p:nvSpPr>
          <p:spPr>
            <a:xfrm>
              <a:off x="0" y="-38100"/>
              <a:ext cx="984914" cy="731461"/>
            </a:xfrm>
            <a:prstGeom prst="rect">
              <a:avLst/>
            </a:prstGeom>
          </p:spPr>
          <p:txBody>
            <a:bodyPr anchor="ctr" rtlCol="false" tIns="50800" lIns="50800" bIns="50800" rIns="50800"/>
            <a:lstStyle/>
            <a:p>
              <a:pPr algn="ctr" marL="0" indent="0" lvl="0">
                <a:lnSpc>
                  <a:spcPts val="2591"/>
                </a:lnSpc>
              </a:pPr>
            </a:p>
          </p:txBody>
        </p:sp>
      </p:grpSp>
      <p:grpSp>
        <p:nvGrpSpPr>
          <p:cNvPr name="Group 44" id="44"/>
          <p:cNvGrpSpPr/>
          <p:nvPr/>
        </p:nvGrpSpPr>
        <p:grpSpPr>
          <a:xfrm rot="0">
            <a:off x="12251383" y="6935816"/>
            <a:ext cx="3321486" cy="896176"/>
            <a:chOff x="0" y="0"/>
            <a:chExt cx="874795" cy="236030"/>
          </a:xfrm>
        </p:grpSpPr>
        <p:sp>
          <p:nvSpPr>
            <p:cNvPr name="Freeform 45" id="45"/>
            <p:cNvSpPr/>
            <p:nvPr/>
          </p:nvSpPr>
          <p:spPr>
            <a:xfrm flipH="false" flipV="false" rot="0">
              <a:off x="0" y="0"/>
              <a:ext cx="874795" cy="236030"/>
            </a:xfrm>
            <a:custGeom>
              <a:avLst/>
              <a:gdLst/>
              <a:ahLst/>
              <a:cxnLst/>
              <a:rect r="r" b="b" t="t" l="l"/>
              <a:pathLst>
                <a:path h="236030" w="874795">
                  <a:moveTo>
                    <a:pt x="118015" y="0"/>
                  </a:moveTo>
                  <a:lnTo>
                    <a:pt x="756780" y="0"/>
                  </a:lnTo>
                  <a:cubicBezTo>
                    <a:pt x="788079" y="0"/>
                    <a:pt x="818097" y="12434"/>
                    <a:pt x="840229" y="34566"/>
                  </a:cubicBezTo>
                  <a:cubicBezTo>
                    <a:pt x="862361" y="56698"/>
                    <a:pt x="874795" y="86715"/>
                    <a:pt x="874795" y="118015"/>
                  </a:cubicBezTo>
                  <a:lnTo>
                    <a:pt x="874795" y="118015"/>
                  </a:lnTo>
                  <a:cubicBezTo>
                    <a:pt x="874795" y="149314"/>
                    <a:pt x="862361" y="179332"/>
                    <a:pt x="840229" y="201464"/>
                  </a:cubicBezTo>
                  <a:cubicBezTo>
                    <a:pt x="818097" y="223596"/>
                    <a:pt x="788079" y="236030"/>
                    <a:pt x="756780" y="236030"/>
                  </a:cubicBezTo>
                  <a:lnTo>
                    <a:pt x="118015" y="236030"/>
                  </a:lnTo>
                  <a:cubicBezTo>
                    <a:pt x="86715" y="236030"/>
                    <a:pt x="56698" y="223596"/>
                    <a:pt x="34566" y="201464"/>
                  </a:cubicBezTo>
                  <a:cubicBezTo>
                    <a:pt x="12434" y="179332"/>
                    <a:pt x="0" y="149314"/>
                    <a:pt x="0" y="118015"/>
                  </a:cubicBezTo>
                  <a:lnTo>
                    <a:pt x="0" y="118015"/>
                  </a:lnTo>
                  <a:cubicBezTo>
                    <a:pt x="0" y="86715"/>
                    <a:pt x="12434" y="56698"/>
                    <a:pt x="34566" y="34566"/>
                  </a:cubicBezTo>
                  <a:cubicBezTo>
                    <a:pt x="56698" y="12434"/>
                    <a:pt x="86715" y="0"/>
                    <a:pt x="118015" y="0"/>
                  </a:cubicBezTo>
                  <a:close/>
                </a:path>
              </a:pathLst>
            </a:custGeom>
            <a:solidFill>
              <a:srgbClr val="FFFFFF"/>
            </a:solidFill>
          </p:spPr>
        </p:sp>
        <p:sp>
          <p:nvSpPr>
            <p:cNvPr name="TextBox 46" id="46"/>
            <p:cNvSpPr txBox="true"/>
            <p:nvPr/>
          </p:nvSpPr>
          <p:spPr>
            <a:xfrm>
              <a:off x="0" y="-38100"/>
              <a:ext cx="874795" cy="274130"/>
            </a:xfrm>
            <a:prstGeom prst="rect">
              <a:avLst/>
            </a:prstGeom>
          </p:spPr>
          <p:txBody>
            <a:bodyPr anchor="ctr" rtlCol="false" tIns="50800" lIns="50800" bIns="50800" rIns="50800"/>
            <a:lstStyle/>
            <a:p>
              <a:pPr algn="ctr" marL="0" indent="0" lvl="0">
                <a:lnSpc>
                  <a:spcPts val="2591"/>
                </a:lnSpc>
              </a:pPr>
            </a:p>
          </p:txBody>
        </p:sp>
      </p:grpSp>
      <p:grpSp>
        <p:nvGrpSpPr>
          <p:cNvPr name="Group 47" id="47"/>
          <p:cNvGrpSpPr/>
          <p:nvPr/>
        </p:nvGrpSpPr>
        <p:grpSpPr>
          <a:xfrm rot="0">
            <a:off x="14860611" y="7093306"/>
            <a:ext cx="581194" cy="58119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50" id="50"/>
          <p:cNvSpPr txBox="true"/>
          <p:nvPr/>
        </p:nvSpPr>
        <p:spPr>
          <a:xfrm rot="0">
            <a:off x="4441856" y="976273"/>
            <a:ext cx="1662550"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HOME</a:t>
            </a:r>
          </a:p>
        </p:txBody>
      </p:sp>
      <p:sp>
        <p:nvSpPr>
          <p:cNvPr name="TextBox 51" id="51"/>
          <p:cNvSpPr txBox="true"/>
          <p:nvPr/>
        </p:nvSpPr>
        <p:spPr>
          <a:xfrm rot="0">
            <a:off x="6649493" y="978486"/>
            <a:ext cx="1907082"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ABOUT</a:t>
            </a:r>
          </a:p>
        </p:txBody>
      </p:sp>
      <p:sp>
        <p:nvSpPr>
          <p:cNvPr name="TextBox 52" id="52"/>
          <p:cNvSpPr txBox="true"/>
          <p:nvPr/>
        </p:nvSpPr>
        <p:spPr>
          <a:xfrm rot="0">
            <a:off x="9499106" y="978486"/>
            <a:ext cx="1589190" cy="323215"/>
          </a:xfrm>
          <a:prstGeom prst="rect">
            <a:avLst/>
          </a:prstGeom>
        </p:spPr>
        <p:txBody>
          <a:bodyPr anchor="t" rtlCol="false" tIns="0" lIns="0" bIns="0" rIns="0">
            <a:spAutoFit/>
          </a:bodyPr>
          <a:lstStyle/>
          <a:p>
            <a:pPr algn="ctr" marL="0" indent="0" lvl="0">
              <a:lnSpc>
                <a:spcPts val="2659"/>
              </a:lnSpc>
              <a:spcBef>
                <a:spcPct val="0"/>
              </a:spcBef>
            </a:pPr>
            <a:r>
              <a:rPr lang="en-US" b="true" sz="1899" spc="3">
                <a:solidFill>
                  <a:srgbClr val="F4F4F4"/>
                </a:solidFill>
                <a:latin typeface="Montserrat Bold"/>
                <a:ea typeface="Montserrat Bold"/>
                <a:cs typeface="Montserrat Bold"/>
                <a:sym typeface="Montserrat Bold"/>
              </a:rPr>
              <a:t>CONTENT</a:t>
            </a:r>
          </a:p>
        </p:txBody>
      </p:sp>
      <p:sp>
        <p:nvSpPr>
          <p:cNvPr name="TextBox 53" id="53"/>
          <p:cNvSpPr txBox="true"/>
          <p:nvPr/>
        </p:nvSpPr>
        <p:spPr>
          <a:xfrm rot="0">
            <a:off x="11594836" y="976273"/>
            <a:ext cx="2224975"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OTHERS</a:t>
            </a:r>
          </a:p>
        </p:txBody>
      </p:sp>
      <p:sp>
        <p:nvSpPr>
          <p:cNvPr name="TextBox 54" id="54"/>
          <p:cNvSpPr txBox="true"/>
          <p:nvPr/>
        </p:nvSpPr>
        <p:spPr>
          <a:xfrm rot="0">
            <a:off x="804572" y="874492"/>
            <a:ext cx="1888114" cy="562216"/>
          </a:xfrm>
          <a:prstGeom prst="rect">
            <a:avLst/>
          </a:prstGeom>
        </p:spPr>
        <p:txBody>
          <a:bodyPr anchor="t" rtlCol="false" tIns="0" lIns="0" bIns="0" rIns="0">
            <a:spAutoFit/>
          </a:bodyPr>
          <a:lstStyle/>
          <a:p>
            <a:pPr algn="l" marL="0" indent="0" lvl="0">
              <a:lnSpc>
                <a:spcPts val="2248"/>
              </a:lnSpc>
            </a:pPr>
            <a:r>
              <a:rPr lang="en-US" b="true" sz="2062" spc="4">
                <a:solidFill>
                  <a:srgbClr val="101B40"/>
                </a:solidFill>
                <a:latin typeface="Montserrat Bold"/>
                <a:ea typeface="Montserrat Bold"/>
                <a:cs typeface="Montserrat Bold"/>
                <a:sym typeface="Montserrat Bold"/>
              </a:rPr>
              <a:t>THYNK UNLIMITED.</a:t>
            </a:r>
          </a:p>
        </p:txBody>
      </p:sp>
      <p:sp>
        <p:nvSpPr>
          <p:cNvPr name="TextBox 55" id="55"/>
          <p:cNvSpPr txBox="true"/>
          <p:nvPr/>
        </p:nvSpPr>
        <p:spPr>
          <a:xfrm rot="0">
            <a:off x="7870766" y="4490788"/>
            <a:ext cx="8229559" cy="1738376"/>
          </a:xfrm>
          <a:prstGeom prst="rect">
            <a:avLst/>
          </a:prstGeom>
        </p:spPr>
        <p:txBody>
          <a:bodyPr anchor="t" rtlCol="false" tIns="0" lIns="0" bIns="0" rIns="0">
            <a:spAutoFit/>
          </a:bodyPr>
          <a:lstStyle/>
          <a:p>
            <a:pPr algn="just" marL="0" indent="0" lvl="0">
              <a:lnSpc>
                <a:spcPts val="3471"/>
              </a:lnSpc>
            </a:pPr>
            <a:r>
              <a:rPr lang="en-US" sz="2799" spc="-179">
                <a:solidFill>
                  <a:srgbClr val="000000"/>
                </a:solidFill>
                <a:latin typeface="Montserrat"/>
                <a:ea typeface="Montserrat"/>
                <a:cs typeface="Montserrat"/>
                <a:sym typeface="Montserrat"/>
              </a:rPr>
              <a:t>Dữ liệu phân mảnh → Khó quan sát toàn diện → Khó phát hiện rủi ro → Khó ra quyết định. Rừng, Thời tiết, Nông nghiệp, Thiên tai, Carbon, Logistics – mỗi lĩnh vực là một silo riêng biệt.</a:t>
            </a:r>
          </a:p>
        </p:txBody>
      </p:sp>
      <p:sp>
        <p:nvSpPr>
          <p:cNvPr name="TextBox 56" id="56"/>
          <p:cNvSpPr txBox="true"/>
          <p:nvPr/>
        </p:nvSpPr>
        <p:spPr>
          <a:xfrm rot="0">
            <a:off x="7870766" y="2487044"/>
            <a:ext cx="9164670" cy="633323"/>
          </a:xfrm>
          <a:prstGeom prst="rect">
            <a:avLst/>
          </a:prstGeom>
        </p:spPr>
        <p:txBody>
          <a:bodyPr anchor="t" rtlCol="false" tIns="0" lIns="0" bIns="0" rIns="0">
            <a:spAutoFit/>
          </a:bodyPr>
          <a:lstStyle/>
          <a:p>
            <a:pPr algn="just" marL="0" indent="0" lvl="0">
              <a:lnSpc>
                <a:spcPts val="5211"/>
              </a:lnSpc>
              <a:spcBef>
                <a:spcPct val="0"/>
              </a:spcBef>
            </a:pPr>
            <a:r>
              <a:rPr lang="en-US" sz="3722" spc="-215">
                <a:solidFill>
                  <a:srgbClr val="101B40"/>
                </a:solidFill>
                <a:latin typeface="Montserrat"/>
                <a:ea typeface="Montserrat"/>
                <a:cs typeface="Montserrat"/>
                <a:sym typeface="Montserrat"/>
              </a:rPr>
              <a:t>Thách Thức Hiện Tại</a:t>
            </a:r>
          </a:p>
        </p:txBody>
      </p:sp>
      <p:sp>
        <p:nvSpPr>
          <p:cNvPr name="TextBox 57" id="57"/>
          <p:cNvSpPr txBox="true"/>
          <p:nvPr/>
        </p:nvSpPr>
        <p:spPr>
          <a:xfrm rot="0">
            <a:off x="7870766" y="3593685"/>
            <a:ext cx="9164670" cy="554203"/>
          </a:xfrm>
          <a:prstGeom prst="rect">
            <a:avLst/>
          </a:prstGeom>
        </p:spPr>
        <p:txBody>
          <a:bodyPr anchor="t" rtlCol="false" tIns="0" lIns="0" bIns="0" rIns="0">
            <a:spAutoFit/>
          </a:bodyPr>
          <a:lstStyle/>
          <a:p>
            <a:pPr algn="just" marL="0" indent="0" lvl="0">
              <a:lnSpc>
                <a:spcPts val="4082"/>
              </a:lnSpc>
            </a:pPr>
            <a:r>
              <a:rPr lang="en-US" b="true" sz="4535" spc="-263">
                <a:solidFill>
                  <a:srgbClr val="101B40"/>
                </a:solidFill>
                <a:latin typeface="Montserrat Bold"/>
                <a:ea typeface="Montserrat Bold"/>
                <a:cs typeface="Montserrat Bold"/>
                <a:sym typeface="Montserrat Bold"/>
              </a:rPr>
              <a:t>Dữ Liệu Môi Trường Phân Mảnh</a:t>
            </a:r>
          </a:p>
        </p:txBody>
      </p:sp>
      <p:sp>
        <p:nvSpPr>
          <p:cNvPr name="TextBox 58" id="58"/>
          <p:cNvSpPr txBox="true"/>
          <p:nvPr/>
        </p:nvSpPr>
        <p:spPr>
          <a:xfrm rot="0">
            <a:off x="1996729" y="8084205"/>
            <a:ext cx="3080835" cy="929421"/>
          </a:xfrm>
          <a:prstGeom prst="rect">
            <a:avLst/>
          </a:prstGeom>
        </p:spPr>
        <p:txBody>
          <a:bodyPr anchor="t" rtlCol="false" tIns="0" lIns="0" bIns="0" rIns="0">
            <a:spAutoFit/>
          </a:bodyPr>
          <a:lstStyle/>
          <a:p>
            <a:pPr algn="l" marL="0" indent="0" lvl="0">
              <a:lnSpc>
                <a:spcPts val="2414"/>
              </a:lnSpc>
            </a:pPr>
            <a:r>
              <a:rPr lang="en-US" b="true" sz="2235" spc="-158">
                <a:solidFill>
                  <a:srgbClr val="F4F4F4"/>
                </a:solidFill>
                <a:latin typeface="Montserrat Semi-Bold"/>
                <a:ea typeface="Montserrat Semi-Bold"/>
                <a:cs typeface="Montserrat Semi-Bold"/>
                <a:sym typeface="Montserrat Semi-Bold"/>
              </a:rPr>
              <a:t>DỮ LIỆU PHÂN TÁN, THIẾU KẾT NỐI KHÔNG GIAN VÀ THỜI GIAN</a:t>
            </a:r>
          </a:p>
        </p:txBody>
      </p:sp>
      <p:sp>
        <p:nvSpPr>
          <p:cNvPr name="TextBox 59" id="59"/>
          <p:cNvSpPr txBox="true"/>
          <p:nvPr/>
        </p:nvSpPr>
        <p:spPr>
          <a:xfrm rot="0">
            <a:off x="2165287" y="7232604"/>
            <a:ext cx="2243794" cy="484452"/>
          </a:xfrm>
          <a:prstGeom prst="rect">
            <a:avLst/>
          </a:prstGeom>
        </p:spPr>
        <p:txBody>
          <a:bodyPr anchor="t" rtlCol="false" tIns="0" lIns="0" bIns="0" rIns="0">
            <a:spAutoFit/>
          </a:bodyPr>
          <a:lstStyle/>
          <a:p>
            <a:pPr algn="ctr" marL="0" indent="0" lvl="0">
              <a:lnSpc>
                <a:spcPts val="1931"/>
              </a:lnSpc>
            </a:pPr>
            <a:r>
              <a:rPr lang="en-US" b="true" sz="1788" spc="-126">
                <a:solidFill>
                  <a:srgbClr val="8FA4C1"/>
                </a:solidFill>
                <a:latin typeface="Montserrat Bold"/>
                <a:ea typeface="Montserrat Bold"/>
                <a:cs typeface="Montserrat Bold"/>
                <a:sym typeface="Montserrat Bold"/>
              </a:rPr>
              <a:t>R</a:t>
            </a:r>
            <a:r>
              <a:rPr lang="en-US" b="true" sz="1788" spc="-126">
                <a:solidFill>
                  <a:srgbClr val="8FA4C1"/>
                </a:solidFill>
                <a:latin typeface="Montserrat Bold"/>
                <a:ea typeface="Montserrat Bold"/>
                <a:cs typeface="Montserrat Bold"/>
                <a:sym typeface="Montserrat Bold"/>
              </a:rPr>
              <a:t>ừng · Thời tiết · Nông nghiệp</a:t>
            </a:r>
          </a:p>
        </p:txBody>
      </p:sp>
      <p:sp>
        <p:nvSpPr>
          <p:cNvPr name="TextBox 60" id="60"/>
          <p:cNvSpPr txBox="true"/>
          <p:nvPr/>
        </p:nvSpPr>
        <p:spPr>
          <a:xfrm rot="0">
            <a:off x="7782868" y="7980400"/>
            <a:ext cx="2050326" cy="1146555"/>
          </a:xfrm>
          <a:prstGeom prst="rect">
            <a:avLst/>
          </a:prstGeom>
        </p:spPr>
        <p:txBody>
          <a:bodyPr anchor="t" rtlCol="false" tIns="0" lIns="0" bIns="0" rIns="0">
            <a:spAutoFit/>
          </a:bodyPr>
          <a:lstStyle/>
          <a:p>
            <a:pPr algn="ctr" marL="0" indent="0" lvl="0">
              <a:lnSpc>
                <a:spcPts val="2276"/>
              </a:lnSpc>
            </a:pPr>
            <a:r>
              <a:rPr lang="en-US" b="true" sz="2108" spc="-149">
                <a:solidFill>
                  <a:srgbClr val="F4F4F4"/>
                </a:solidFill>
                <a:latin typeface="Montserrat Semi-Bold"/>
                <a:ea typeface="Montserrat Semi-Bold"/>
                <a:cs typeface="Montserrat Semi-Bold"/>
                <a:sym typeface="Montserrat Semi-Bold"/>
              </a:rPr>
              <a:t>KHÔNG CÓ NỀN TẢNG TÍCH HỢP ĐỂ PHÂN TÍCH ĐA CHIỀU</a:t>
            </a:r>
          </a:p>
        </p:txBody>
      </p:sp>
      <p:sp>
        <p:nvSpPr>
          <p:cNvPr name="TextBox 61" id="61"/>
          <p:cNvSpPr txBox="true"/>
          <p:nvPr/>
        </p:nvSpPr>
        <p:spPr>
          <a:xfrm rot="0">
            <a:off x="12453101" y="7980400"/>
            <a:ext cx="2766862" cy="1146555"/>
          </a:xfrm>
          <a:prstGeom prst="rect">
            <a:avLst/>
          </a:prstGeom>
        </p:spPr>
        <p:txBody>
          <a:bodyPr anchor="t" rtlCol="false" tIns="0" lIns="0" bIns="0" rIns="0">
            <a:spAutoFit/>
          </a:bodyPr>
          <a:lstStyle/>
          <a:p>
            <a:pPr algn="just" marL="0" indent="0" lvl="0">
              <a:lnSpc>
                <a:spcPts val="2289"/>
              </a:lnSpc>
            </a:pPr>
            <a:r>
              <a:rPr lang="en-US" b="true" sz="2120" spc="-150">
                <a:solidFill>
                  <a:srgbClr val="F4F4F4"/>
                </a:solidFill>
                <a:latin typeface="Montserrat Semi-Bold"/>
                <a:ea typeface="Montserrat Semi-Bold"/>
                <a:cs typeface="Montserrat Semi-Bold"/>
                <a:sym typeface="Montserrat Semi-Bold"/>
              </a:rPr>
              <a:t>THIẾU CÔNG CỤ HỖ TRỢ RA QUYẾT ĐỊNH THEO THỜI GIAN THỰC</a:t>
            </a:r>
          </a:p>
        </p:txBody>
      </p:sp>
      <p:sp>
        <p:nvSpPr>
          <p:cNvPr name="TextBox 62" id="62"/>
          <p:cNvSpPr txBox="true"/>
          <p:nvPr/>
        </p:nvSpPr>
        <p:spPr>
          <a:xfrm rot="0">
            <a:off x="7409566" y="7154682"/>
            <a:ext cx="2243794" cy="544650"/>
          </a:xfrm>
          <a:prstGeom prst="rect">
            <a:avLst/>
          </a:prstGeom>
        </p:spPr>
        <p:txBody>
          <a:bodyPr anchor="t" rtlCol="false" tIns="0" lIns="0" bIns="0" rIns="0">
            <a:spAutoFit/>
          </a:bodyPr>
          <a:lstStyle/>
          <a:p>
            <a:pPr algn="ctr" marL="0" indent="0" lvl="0">
              <a:lnSpc>
                <a:spcPts val="2147"/>
              </a:lnSpc>
            </a:pPr>
            <a:r>
              <a:rPr lang="en-US" b="true" sz="1988" spc="-141">
                <a:solidFill>
                  <a:srgbClr val="8FA4C1"/>
                </a:solidFill>
                <a:latin typeface="Montserrat Bold"/>
                <a:ea typeface="Montserrat Bold"/>
                <a:cs typeface="Montserrat Bold"/>
                <a:sym typeface="Montserrat Bold"/>
              </a:rPr>
              <a:t>Thiên tai · Carbon · Logistics</a:t>
            </a:r>
          </a:p>
        </p:txBody>
      </p:sp>
      <p:sp>
        <p:nvSpPr>
          <p:cNvPr name="TextBox 63" id="63"/>
          <p:cNvSpPr txBox="true"/>
          <p:nvPr/>
        </p:nvSpPr>
        <p:spPr>
          <a:xfrm rot="0">
            <a:off x="12489508" y="7131390"/>
            <a:ext cx="2243794" cy="524231"/>
          </a:xfrm>
          <a:prstGeom prst="rect">
            <a:avLst/>
          </a:prstGeom>
        </p:spPr>
        <p:txBody>
          <a:bodyPr anchor="t" rtlCol="false" tIns="0" lIns="0" bIns="0" rIns="0">
            <a:spAutoFit/>
          </a:bodyPr>
          <a:lstStyle/>
          <a:p>
            <a:pPr algn="ctr" marL="0" indent="0" lvl="0">
              <a:lnSpc>
                <a:spcPts val="2051"/>
              </a:lnSpc>
            </a:pPr>
            <a:r>
              <a:rPr lang="en-US" b="true" sz="1899" spc="-134">
                <a:solidFill>
                  <a:srgbClr val="8FA4C1"/>
                </a:solidFill>
                <a:latin typeface="Montserrat Bold"/>
                <a:ea typeface="Montserrat Bold"/>
                <a:cs typeface="Montserrat Bold"/>
                <a:sym typeface="Montserrat Bold"/>
              </a:rPr>
              <a:t>Quyết định chậm &amp; rủi ro cao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460786" y="628301"/>
            <a:ext cx="1665830" cy="588932"/>
            <a:chOff x="0" y="0"/>
            <a:chExt cx="438737" cy="155110"/>
          </a:xfrm>
        </p:grpSpPr>
        <p:sp>
          <p:nvSpPr>
            <p:cNvPr name="Freeform 6" id="6"/>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9" id="9"/>
          <p:cNvGrpSpPr/>
          <p:nvPr/>
        </p:nvGrpSpPr>
        <p:grpSpPr>
          <a:xfrm rot="0">
            <a:off x="-321703" y="0"/>
            <a:ext cx="4264059" cy="10287000"/>
            <a:chOff x="0" y="0"/>
            <a:chExt cx="1123044" cy="2709333"/>
          </a:xfrm>
        </p:grpSpPr>
        <p:sp>
          <p:nvSpPr>
            <p:cNvPr name="Freeform 10" id="10"/>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11" id="11"/>
            <p:cNvSpPr txBox="true"/>
            <p:nvPr/>
          </p:nvSpPr>
          <p:spPr>
            <a:xfrm>
              <a:off x="0" y="-38100"/>
              <a:ext cx="1123044" cy="2747433"/>
            </a:xfrm>
            <a:prstGeom prst="rect">
              <a:avLst/>
            </a:prstGeom>
          </p:spPr>
          <p:txBody>
            <a:bodyPr anchor="ctr" rtlCol="false" tIns="50800" lIns="50800" bIns="50800" rIns="50800"/>
            <a:lstStyle/>
            <a:p>
              <a:pPr algn="ctr" marL="0" indent="0" lvl="0">
                <a:lnSpc>
                  <a:spcPts val="2591"/>
                </a:lnSpc>
              </a:pPr>
            </a:p>
          </p:txBody>
        </p:sp>
      </p:grpSp>
      <p:grpSp>
        <p:nvGrpSpPr>
          <p:cNvPr name="Group 12" id="12"/>
          <p:cNvGrpSpPr/>
          <p:nvPr/>
        </p:nvGrpSpPr>
        <p:grpSpPr>
          <a:xfrm rot="0">
            <a:off x="1398523" y="2161933"/>
            <a:ext cx="6968279" cy="6812433"/>
            <a:chOff x="0" y="0"/>
            <a:chExt cx="1079569" cy="1055424"/>
          </a:xfrm>
        </p:grpSpPr>
        <p:sp>
          <p:nvSpPr>
            <p:cNvPr name="Freeform 13" id="13"/>
            <p:cNvSpPr/>
            <p:nvPr/>
          </p:nvSpPr>
          <p:spPr>
            <a:xfrm flipH="false" flipV="false" rot="0">
              <a:off x="0" y="0"/>
              <a:ext cx="1079569" cy="1055424"/>
            </a:xfrm>
            <a:custGeom>
              <a:avLst/>
              <a:gdLst/>
              <a:ahLst/>
              <a:cxnLst/>
              <a:rect r="r" b="b" t="t" l="l"/>
              <a:pathLst>
                <a:path h="1055424" w="1079569">
                  <a:moveTo>
                    <a:pt x="35553" y="0"/>
                  </a:moveTo>
                  <a:lnTo>
                    <a:pt x="1044016" y="0"/>
                  </a:lnTo>
                  <a:cubicBezTo>
                    <a:pt x="1063651" y="0"/>
                    <a:pt x="1079569" y="15918"/>
                    <a:pt x="1079569" y="35553"/>
                  </a:cubicBezTo>
                  <a:lnTo>
                    <a:pt x="1079569" y="1019871"/>
                  </a:lnTo>
                  <a:cubicBezTo>
                    <a:pt x="1079569" y="1029301"/>
                    <a:pt x="1075823" y="1038344"/>
                    <a:pt x="1069156" y="1045011"/>
                  </a:cubicBezTo>
                  <a:cubicBezTo>
                    <a:pt x="1062488" y="1051678"/>
                    <a:pt x="1053445" y="1055424"/>
                    <a:pt x="1044016" y="1055424"/>
                  </a:cubicBezTo>
                  <a:lnTo>
                    <a:pt x="35553" y="1055424"/>
                  </a:lnTo>
                  <a:cubicBezTo>
                    <a:pt x="15918" y="1055424"/>
                    <a:pt x="0" y="1039507"/>
                    <a:pt x="0" y="1019871"/>
                  </a:cubicBezTo>
                  <a:lnTo>
                    <a:pt x="0" y="35553"/>
                  </a:lnTo>
                  <a:cubicBezTo>
                    <a:pt x="0" y="15918"/>
                    <a:pt x="15918" y="0"/>
                    <a:pt x="35553" y="0"/>
                  </a:cubicBezTo>
                  <a:close/>
                </a:path>
              </a:pathLst>
            </a:custGeom>
            <a:blipFill>
              <a:blip r:embed="rId4"/>
              <a:stretch>
                <a:fillRect l="0" t="-312" r="0" b="-312"/>
              </a:stretch>
            </a:blipFill>
          </p:spPr>
        </p:sp>
      </p:grpSp>
      <p:grpSp>
        <p:nvGrpSpPr>
          <p:cNvPr name="Group 14" id="14"/>
          <p:cNvGrpSpPr/>
          <p:nvPr/>
        </p:nvGrpSpPr>
        <p:grpSpPr>
          <a:xfrm rot="0">
            <a:off x="6829803" y="1927533"/>
            <a:ext cx="1822999" cy="182299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7" id="17"/>
          <p:cNvGrpSpPr/>
          <p:nvPr/>
        </p:nvGrpSpPr>
        <p:grpSpPr>
          <a:xfrm rot="0">
            <a:off x="7400238" y="2497968"/>
            <a:ext cx="682130" cy="6821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Freeform 20" id="20"/>
          <p:cNvSpPr/>
          <p:nvPr/>
        </p:nvSpPr>
        <p:spPr>
          <a:xfrm flipH="false" flipV="false" rot="0">
            <a:off x="15887644" y="7886644"/>
            <a:ext cx="1371656" cy="1371656"/>
          </a:xfrm>
          <a:custGeom>
            <a:avLst/>
            <a:gdLst/>
            <a:ahLst/>
            <a:cxnLst/>
            <a:rect r="r" b="b" t="t" l="l"/>
            <a:pathLst>
              <a:path h="1371656" w="1371656">
                <a:moveTo>
                  <a:pt x="0" y="0"/>
                </a:moveTo>
                <a:lnTo>
                  <a:pt x="1371656" y="0"/>
                </a:lnTo>
                <a:lnTo>
                  <a:pt x="1371656" y="1371656"/>
                </a:lnTo>
                <a:lnTo>
                  <a:pt x="0" y="1371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4441856" y="729745"/>
            <a:ext cx="1662550"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HOME</a:t>
            </a:r>
          </a:p>
        </p:txBody>
      </p:sp>
      <p:sp>
        <p:nvSpPr>
          <p:cNvPr name="TextBox 22" id="22"/>
          <p:cNvSpPr txBox="true"/>
          <p:nvPr/>
        </p:nvSpPr>
        <p:spPr>
          <a:xfrm rot="0">
            <a:off x="6829803" y="731958"/>
            <a:ext cx="1907082"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ABOUT</a:t>
            </a:r>
          </a:p>
        </p:txBody>
      </p:sp>
      <p:sp>
        <p:nvSpPr>
          <p:cNvPr name="TextBox 23" id="23"/>
          <p:cNvSpPr txBox="true"/>
          <p:nvPr/>
        </p:nvSpPr>
        <p:spPr>
          <a:xfrm rot="0">
            <a:off x="9499106" y="731958"/>
            <a:ext cx="1589190" cy="323215"/>
          </a:xfrm>
          <a:prstGeom prst="rect">
            <a:avLst/>
          </a:prstGeom>
        </p:spPr>
        <p:txBody>
          <a:bodyPr anchor="t" rtlCol="false" tIns="0" lIns="0" bIns="0" rIns="0">
            <a:spAutoFit/>
          </a:bodyPr>
          <a:lstStyle/>
          <a:p>
            <a:pPr algn="ctr" marL="0" indent="0" lvl="0">
              <a:lnSpc>
                <a:spcPts val="2659"/>
              </a:lnSpc>
              <a:spcBef>
                <a:spcPct val="0"/>
              </a:spcBef>
            </a:pPr>
            <a:r>
              <a:rPr lang="en-US" b="true" sz="1899" spc="3">
                <a:solidFill>
                  <a:srgbClr val="F4F4F4"/>
                </a:solidFill>
                <a:latin typeface="Montserrat Bold"/>
                <a:ea typeface="Montserrat Bold"/>
                <a:cs typeface="Montserrat Bold"/>
                <a:sym typeface="Montserrat Bold"/>
              </a:rPr>
              <a:t>VISION</a:t>
            </a:r>
          </a:p>
        </p:txBody>
      </p:sp>
      <p:sp>
        <p:nvSpPr>
          <p:cNvPr name="TextBox 24" id="24"/>
          <p:cNvSpPr txBox="true"/>
          <p:nvPr/>
        </p:nvSpPr>
        <p:spPr>
          <a:xfrm rot="0">
            <a:off x="11594836" y="739270"/>
            <a:ext cx="2224975" cy="330201"/>
          </a:xfrm>
          <a:prstGeom prst="rect">
            <a:avLst/>
          </a:prstGeom>
        </p:spPr>
        <p:txBody>
          <a:bodyPr anchor="t" rtlCol="false" tIns="0" lIns="0" bIns="0" rIns="0">
            <a:spAutoFit/>
          </a:bodyPr>
          <a:lstStyle/>
          <a:p>
            <a:pPr algn="ctr" marL="0" indent="0" lvl="0">
              <a:lnSpc>
                <a:spcPts val="2799"/>
              </a:lnSpc>
              <a:spcBef>
                <a:spcPct val="0"/>
              </a:spcBef>
            </a:pPr>
            <a:r>
              <a:rPr lang="en-US" sz="1999" spc="3">
                <a:solidFill>
                  <a:srgbClr val="101B40"/>
                </a:solidFill>
                <a:latin typeface="Montserrat"/>
                <a:ea typeface="Montserrat"/>
                <a:cs typeface="Montserrat"/>
                <a:sym typeface="Montserrat"/>
              </a:rPr>
              <a:t>OTHERS</a:t>
            </a:r>
          </a:p>
        </p:txBody>
      </p:sp>
      <p:sp>
        <p:nvSpPr>
          <p:cNvPr name="TextBox 25" id="25"/>
          <p:cNvSpPr txBox="true"/>
          <p:nvPr/>
        </p:nvSpPr>
        <p:spPr>
          <a:xfrm rot="0">
            <a:off x="804572" y="637489"/>
            <a:ext cx="2880608" cy="692564"/>
          </a:xfrm>
          <a:prstGeom prst="rect">
            <a:avLst/>
          </a:prstGeom>
        </p:spPr>
        <p:txBody>
          <a:bodyPr anchor="t" rtlCol="false" tIns="0" lIns="0" bIns="0" rIns="0">
            <a:spAutoFit/>
          </a:bodyPr>
          <a:lstStyle/>
          <a:p>
            <a:pPr algn="just" marL="0" indent="0" lvl="0">
              <a:lnSpc>
                <a:spcPts val="2757"/>
              </a:lnSpc>
            </a:pPr>
            <a:r>
              <a:rPr lang="en-US" b="true" sz="2529" spc="5">
                <a:solidFill>
                  <a:srgbClr val="101B40"/>
                </a:solidFill>
                <a:latin typeface="Montserrat Bold"/>
                <a:ea typeface="Montserrat Bold"/>
                <a:cs typeface="Montserrat Bold"/>
                <a:sym typeface="Montserrat Bold"/>
              </a:rPr>
              <a:t>GIALAI</a:t>
            </a:r>
          </a:p>
          <a:p>
            <a:pPr algn="just" marL="0" indent="0" lvl="0">
              <a:lnSpc>
                <a:spcPts val="2757"/>
              </a:lnSpc>
            </a:pPr>
            <a:r>
              <a:rPr lang="en-US" b="true" sz="2529" spc="5">
                <a:solidFill>
                  <a:srgbClr val="101B40"/>
                </a:solidFill>
                <a:latin typeface="Montserrat Bold"/>
                <a:ea typeface="Montserrat Bold"/>
                <a:cs typeface="Montserrat Bold"/>
                <a:sym typeface="Montserrat Bold"/>
              </a:rPr>
              <a:t>ECOCHAIN 1.0</a:t>
            </a:r>
          </a:p>
        </p:txBody>
      </p:sp>
      <p:sp>
        <p:nvSpPr>
          <p:cNvPr name="TextBox 26" id="26"/>
          <p:cNvSpPr txBox="true"/>
          <p:nvPr/>
        </p:nvSpPr>
        <p:spPr>
          <a:xfrm rot="0">
            <a:off x="9441293" y="2272611"/>
            <a:ext cx="7448140" cy="712908"/>
          </a:xfrm>
          <a:prstGeom prst="rect">
            <a:avLst/>
          </a:prstGeom>
        </p:spPr>
        <p:txBody>
          <a:bodyPr anchor="t" rtlCol="false" tIns="0" lIns="0" bIns="0" rIns="0">
            <a:spAutoFit/>
          </a:bodyPr>
          <a:lstStyle/>
          <a:p>
            <a:pPr algn="just" marL="0" indent="0" lvl="0">
              <a:lnSpc>
                <a:spcPts val="5855"/>
              </a:lnSpc>
              <a:spcBef>
                <a:spcPct val="0"/>
              </a:spcBef>
            </a:pPr>
            <a:r>
              <a:rPr lang="en-US" b="true" sz="4182" spc="-242">
                <a:solidFill>
                  <a:srgbClr val="101B40"/>
                </a:solidFill>
                <a:latin typeface="Montserrat Bold"/>
                <a:ea typeface="Montserrat Bold"/>
                <a:cs typeface="Montserrat Bold"/>
                <a:sym typeface="Montserrat Bold"/>
              </a:rPr>
              <a:t>Tầm Nhìn</a:t>
            </a:r>
          </a:p>
        </p:txBody>
      </p:sp>
      <p:sp>
        <p:nvSpPr>
          <p:cNvPr name="TextBox 27" id="27"/>
          <p:cNvSpPr txBox="true"/>
          <p:nvPr/>
        </p:nvSpPr>
        <p:spPr>
          <a:xfrm rot="0">
            <a:off x="9336687" y="3318628"/>
            <a:ext cx="6741273" cy="1131528"/>
          </a:xfrm>
          <a:prstGeom prst="rect">
            <a:avLst/>
          </a:prstGeom>
        </p:spPr>
        <p:txBody>
          <a:bodyPr anchor="t" rtlCol="false" tIns="0" lIns="0" bIns="0" rIns="0">
            <a:spAutoFit/>
          </a:bodyPr>
          <a:lstStyle/>
          <a:p>
            <a:pPr algn="just" marL="0" indent="0" lvl="0">
              <a:lnSpc>
                <a:spcPts val="4337"/>
              </a:lnSpc>
            </a:pPr>
            <a:r>
              <a:rPr lang="en-US" b="true" sz="4819" spc="-279">
                <a:solidFill>
                  <a:srgbClr val="101B40"/>
                </a:solidFill>
                <a:latin typeface="Montserrat Bold"/>
                <a:ea typeface="Montserrat Bold"/>
                <a:cs typeface="Montserrat Bold"/>
                <a:sym typeface="Montserrat Bold"/>
              </a:rPr>
              <a:t>Chuyển Dữ Liệu</a:t>
            </a:r>
          </a:p>
          <a:p>
            <a:pPr algn="just" marL="0" indent="0" lvl="0">
              <a:lnSpc>
                <a:spcPts val="4337"/>
              </a:lnSpc>
            </a:pPr>
            <a:r>
              <a:rPr lang="en-US" b="true" sz="4819" spc="-279">
                <a:solidFill>
                  <a:srgbClr val="101B40"/>
                </a:solidFill>
                <a:latin typeface="Montserrat Bold"/>
                <a:ea typeface="Montserrat Bold"/>
                <a:cs typeface="Montserrat Bold"/>
                <a:sym typeface="Montserrat Bold"/>
              </a:rPr>
              <a:t>Môi Trường</a:t>
            </a:r>
          </a:p>
        </p:txBody>
      </p:sp>
      <p:sp>
        <p:nvSpPr>
          <p:cNvPr name="TextBox 28" id="28"/>
          <p:cNvSpPr txBox="true"/>
          <p:nvPr/>
        </p:nvSpPr>
        <p:spPr>
          <a:xfrm rot="0">
            <a:off x="9310573" y="5705211"/>
            <a:ext cx="7709580" cy="1600671"/>
          </a:xfrm>
          <a:prstGeom prst="rect">
            <a:avLst/>
          </a:prstGeom>
        </p:spPr>
        <p:txBody>
          <a:bodyPr anchor="t" rtlCol="false" tIns="0" lIns="0" bIns="0" rIns="0">
            <a:spAutoFit/>
          </a:bodyPr>
          <a:lstStyle/>
          <a:p>
            <a:pPr algn="just" marL="0" indent="0" lvl="0">
              <a:lnSpc>
                <a:spcPts val="4223"/>
              </a:lnSpc>
            </a:pPr>
            <a:r>
              <a:rPr lang="en-US" sz="3405" spc="-217">
                <a:solidFill>
                  <a:srgbClr val="000000"/>
                </a:solidFill>
                <a:latin typeface="Montserrat"/>
                <a:ea typeface="Montserrat"/>
                <a:cs typeface="Montserrat"/>
                <a:sym typeface="Montserrat"/>
              </a:rPr>
              <a:t>Biến dữ liệu môi trường thành khả năng hiểu không gian và hỗ trợ ra quyết định tỉnh Gia Lai theo thời gian thực.</a:t>
            </a:r>
          </a:p>
        </p:txBody>
      </p:sp>
      <p:sp>
        <p:nvSpPr>
          <p:cNvPr name="TextBox 29" id="29"/>
          <p:cNvSpPr txBox="true"/>
          <p:nvPr/>
        </p:nvSpPr>
        <p:spPr>
          <a:xfrm rot="0">
            <a:off x="9336687" y="4865509"/>
            <a:ext cx="7171472" cy="277991"/>
          </a:xfrm>
          <a:prstGeom prst="rect">
            <a:avLst/>
          </a:prstGeom>
        </p:spPr>
        <p:txBody>
          <a:bodyPr anchor="t" rtlCol="false" tIns="0" lIns="0" bIns="0" rIns="0">
            <a:spAutoFit/>
          </a:bodyPr>
          <a:lstStyle/>
          <a:p>
            <a:pPr algn="just" marL="0" indent="0" lvl="0">
              <a:lnSpc>
                <a:spcPts val="2150"/>
              </a:lnSpc>
            </a:pPr>
            <a:r>
              <a:rPr lang="en-US" b="true" sz="1990" i="true" spc="-141">
                <a:gradFill>
                  <a:gsLst>
                    <a:gs pos="0">
                      <a:srgbClr val="000000">
                        <a:alpha val="100000"/>
                      </a:srgbClr>
                    </a:gs>
                    <a:gs pos="100000">
                      <a:srgbClr val="737373">
                        <a:alpha val="100000"/>
                      </a:srgbClr>
                    </a:gs>
                  </a:gsLst>
                  <a:lin ang="0"/>
                </a:gradFill>
                <a:latin typeface="Montserrat Bold Italics"/>
                <a:ea typeface="Montserrat Bold Italics"/>
                <a:cs typeface="Montserrat Bold Italics"/>
                <a:sym typeface="Montserrat Bold Italics"/>
              </a:rPr>
              <a:t>THỰC TẾ → DỮ LIỆU → TRÍ TUỆ → QUYẾT ĐỊNH → HÀNH ĐỘNG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30097" y="122000"/>
            <a:ext cx="17587469" cy="9603920"/>
            <a:chOff x="0" y="0"/>
            <a:chExt cx="4632091" cy="2529427"/>
          </a:xfrm>
        </p:grpSpPr>
        <p:sp>
          <p:nvSpPr>
            <p:cNvPr name="Freeform 3" id="3"/>
            <p:cNvSpPr/>
            <p:nvPr/>
          </p:nvSpPr>
          <p:spPr>
            <a:xfrm flipH="false" flipV="false" rot="0">
              <a:off x="0" y="0"/>
              <a:ext cx="4632091" cy="2529427"/>
            </a:xfrm>
            <a:custGeom>
              <a:avLst/>
              <a:gdLst/>
              <a:ahLst/>
              <a:cxnLst/>
              <a:rect r="r" b="b" t="t" l="l"/>
              <a:pathLst>
                <a:path h="2529427" w="4632091">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name="TextBox 4" id="4"/>
            <p:cNvSpPr txBox="true"/>
            <p:nvPr/>
          </p:nvSpPr>
          <p:spPr>
            <a:xfrm>
              <a:off x="0" y="-38100"/>
              <a:ext cx="4632091" cy="2567527"/>
            </a:xfrm>
            <a:prstGeom prst="rect">
              <a:avLst/>
            </a:prstGeom>
          </p:spPr>
          <p:txBody>
            <a:bodyPr anchor="ctr" rtlCol="false" tIns="50800" lIns="50800" bIns="50800" rIns="50800"/>
            <a:lstStyle/>
            <a:p>
              <a:pPr algn="ctr" marL="0" indent="0" lvl="0">
                <a:lnSpc>
                  <a:spcPts val="2591"/>
                </a:lnSpc>
              </a:pPr>
            </a:p>
          </p:txBody>
        </p:sp>
      </p:grpSp>
      <p:grpSp>
        <p:nvGrpSpPr>
          <p:cNvPr name="Group 5" id="5"/>
          <p:cNvGrpSpPr/>
          <p:nvPr/>
        </p:nvGrpSpPr>
        <p:grpSpPr>
          <a:xfrm rot="0">
            <a:off x="4409081" y="888630"/>
            <a:ext cx="9469839" cy="814592"/>
            <a:chOff x="0" y="0"/>
            <a:chExt cx="2494114" cy="214543"/>
          </a:xfrm>
        </p:grpSpPr>
        <p:sp>
          <p:nvSpPr>
            <p:cNvPr name="Freeform 6" id="6"/>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7" id="7"/>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8" id="8"/>
          <p:cNvGrpSpPr/>
          <p:nvPr/>
        </p:nvGrpSpPr>
        <p:grpSpPr>
          <a:xfrm rot="0">
            <a:off x="9374881" y="1028700"/>
            <a:ext cx="1751735" cy="541351"/>
            <a:chOff x="0" y="0"/>
            <a:chExt cx="461362" cy="142578"/>
          </a:xfrm>
        </p:grpSpPr>
        <p:sp>
          <p:nvSpPr>
            <p:cNvPr name="Freeform 9" id="9"/>
            <p:cNvSpPr/>
            <p:nvPr/>
          </p:nvSpPr>
          <p:spPr>
            <a:xfrm flipH="false" flipV="false" rot="0">
              <a:off x="0" y="0"/>
              <a:ext cx="461362" cy="142578"/>
            </a:xfrm>
            <a:custGeom>
              <a:avLst/>
              <a:gdLst/>
              <a:ahLst/>
              <a:cxnLst/>
              <a:rect r="r" b="b" t="t" l="l"/>
              <a:pathLst>
                <a:path h="142578" w="461362">
                  <a:moveTo>
                    <a:pt x="71289" y="0"/>
                  </a:moveTo>
                  <a:lnTo>
                    <a:pt x="390073" y="0"/>
                  </a:lnTo>
                  <a:cubicBezTo>
                    <a:pt x="429445" y="0"/>
                    <a:pt x="461362" y="31917"/>
                    <a:pt x="461362" y="71289"/>
                  </a:cubicBezTo>
                  <a:lnTo>
                    <a:pt x="461362" y="71289"/>
                  </a:lnTo>
                  <a:cubicBezTo>
                    <a:pt x="461362" y="90196"/>
                    <a:pt x="453851" y="108329"/>
                    <a:pt x="440482" y="121698"/>
                  </a:cubicBezTo>
                  <a:cubicBezTo>
                    <a:pt x="427113" y="135067"/>
                    <a:pt x="408980" y="142578"/>
                    <a:pt x="390073" y="142578"/>
                  </a:cubicBezTo>
                  <a:lnTo>
                    <a:pt x="71289" y="142578"/>
                  </a:lnTo>
                  <a:cubicBezTo>
                    <a:pt x="52382" y="142578"/>
                    <a:pt x="34249" y="135067"/>
                    <a:pt x="20880" y="121698"/>
                  </a:cubicBezTo>
                  <a:cubicBezTo>
                    <a:pt x="7511" y="108329"/>
                    <a:pt x="0" y="90196"/>
                    <a:pt x="0" y="71289"/>
                  </a:cubicBezTo>
                  <a:lnTo>
                    <a:pt x="0" y="71289"/>
                  </a:lnTo>
                  <a:cubicBezTo>
                    <a:pt x="0" y="52382"/>
                    <a:pt x="7511" y="34249"/>
                    <a:pt x="20880" y="20880"/>
                  </a:cubicBezTo>
                  <a:cubicBezTo>
                    <a:pt x="34249" y="7511"/>
                    <a:pt x="52382" y="0"/>
                    <a:pt x="71289" y="0"/>
                  </a:cubicBezTo>
                  <a:close/>
                </a:path>
              </a:pathLst>
            </a:custGeom>
            <a:solidFill>
              <a:srgbClr val="101B40"/>
            </a:solidFill>
            <a:ln cap="rnd">
              <a:noFill/>
              <a:prstDash val="solid"/>
              <a:round/>
            </a:ln>
          </p:spPr>
        </p:sp>
        <p:sp>
          <p:nvSpPr>
            <p:cNvPr name="TextBox 10" id="10"/>
            <p:cNvSpPr txBox="true"/>
            <p:nvPr/>
          </p:nvSpPr>
          <p:spPr>
            <a:xfrm>
              <a:off x="0" y="-38100"/>
              <a:ext cx="461362" cy="180678"/>
            </a:xfrm>
            <a:prstGeom prst="rect">
              <a:avLst/>
            </a:prstGeom>
          </p:spPr>
          <p:txBody>
            <a:bodyPr anchor="ctr" rtlCol="false" tIns="50800" lIns="50800" bIns="50800" rIns="50800"/>
            <a:lstStyle/>
            <a:p>
              <a:pPr algn="ctr" marL="0" indent="0" lvl="0">
                <a:lnSpc>
                  <a:spcPts val="2871"/>
                </a:lnSpc>
              </a:pPr>
            </a:p>
          </p:txBody>
        </p:sp>
      </p:grpSp>
      <p:sp>
        <p:nvSpPr>
          <p:cNvPr name="Freeform 11" id="11"/>
          <p:cNvSpPr/>
          <p:nvPr/>
        </p:nvSpPr>
        <p:spPr>
          <a:xfrm flipH="false" flipV="false" rot="0">
            <a:off x="16736419" y="924288"/>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12" id="12"/>
          <p:cNvGrpSpPr/>
          <p:nvPr/>
        </p:nvGrpSpPr>
        <p:grpSpPr>
          <a:xfrm rot="0">
            <a:off x="16465001" y="8346801"/>
            <a:ext cx="1822999" cy="18229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5" id="15"/>
          <p:cNvGrpSpPr/>
          <p:nvPr/>
        </p:nvGrpSpPr>
        <p:grpSpPr>
          <a:xfrm rot="0">
            <a:off x="17035435" y="8917235"/>
            <a:ext cx="682130" cy="6821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8" id="18"/>
          <p:cNvGrpSpPr/>
          <p:nvPr/>
        </p:nvGrpSpPr>
        <p:grpSpPr>
          <a:xfrm rot="0">
            <a:off x="-1014013" y="7723491"/>
            <a:ext cx="2728557" cy="2387487"/>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1F1F1"/>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591"/>
                </a:lnSpc>
              </a:pPr>
            </a:p>
          </p:txBody>
        </p:sp>
      </p:grpSp>
      <p:grpSp>
        <p:nvGrpSpPr>
          <p:cNvPr name="Group 21" id="21"/>
          <p:cNvGrpSpPr/>
          <p:nvPr/>
        </p:nvGrpSpPr>
        <p:grpSpPr>
          <a:xfrm rot="0">
            <a:off x="1023983" y="2034579"/>
            <a:ext cx="6735959" cy="4482285"/>
            <a:chOff x="0" y="0"/>
            <a:chExt cx="910838" cy="606096"/>
          </a:xfrm>
        </p:grpSpPr>
        <p:sp>
          <p:nvSpPr>
            <p:cNvPr name="Freeform 22" id="22"/>
            <p:cNvSpPr/>
            <p:nvPr/>
          </p:nvSpPr>
          <p:spPr>
            <a:xfrm flipH="false" flipV="false" rot="0">
              <a:off x="0" y="0"/>
              <a:ext cx="910838" cy="606096"/>
            </a:xfrm>
            <a:custGeom>
              <a:avLst/>
              <a:gdLst/>
              <a:ahLst/>
              <a:cxnLst/>
              <a:rect r="r" b="b" t="t" l="l"/>
              <a:pathLst>
                <a:path h="606096" w="910838">
                  <a:moveTo>
                    <a:pt x="36779" y="0"/>
                  </a:moveTo>
                  <a:lnTo>
                    <a:pt x="874059" y="0"/>
                  </a:lnTo>
                  <a:cubicBezTo>
                    <a:pt x="883814" y="0"/>
                    <a:pt x="893169" y="3875"/>
                    <a:pt x="900066" y="10772"/>
                  </a:cubicBezTo>
                  <a:cubicBezTo>
                    <a:pt x="906963" y="17670"/>
                    <a:pt x="910838" y="27025"/>
                    <a:pt x="910838" y="36779"/>
                  </a:cubicBezTo>
                  <a:lnTo>
                    <a:pt x="910838" y="569317"/>
                  </a:lnTo>
                  <a:cubicBezTo>
                    <a:pt x="910838" y="589629"/>
                    <a:pt x="894372" y="606096"/>
                    <a:pt x="874059" y="606096"/>
                  </a:cubicBezTo>
                  <a:lnTo>
                    <a:pt x="36779" y="606096"/>
                  </a:lnTo>
                  <a:cubicBezTo>
                    <a:pt x="27025" y="606096"/>
                    <a:pt x="17670" y="602221"/>
                    <a:pt x="10772" y="595323"/>
                  </a:cubicBezTo>
                  <a:cubicBezTo>
                    <a:pt x="3875" y="588426"/>
                    <a:pt x="0" y="579071"/>
                    <a:pt x="0" y="569317"/>
                  </a:cubicBezTo>
                  <a:lnTo>
                    <a:pt x="0" y="36779"/>
                  </a:lnTo>
                  <a:cubicBezTo>
                    <a:pt x="0" y="16466"/>
                    <a:pt x="16466" y="0"/>
                    <a:pt x="36779" y="0"/>
                  </a:cubicBezTo>
                  <a:close/>
                </a:path>
              </a:pathLst>
            </a:custGeom>
            <a:blipFill>
              <a:blip r:embed="rId4"/>
              <a:stretch>
                <a:fillRect l="0" t="-343" r="0" b="-343"/>
              </a:stretch>
            </a:blipFill>
          </p:spPr>
        </p:sp>
      </p:grpSp>
      <p:grpSp>
        <p:nvGrpSpPr>
          <p:cNvPr name="Group 23" id="23"/>
          <p:cNvGrpSpPr/>
          <p:nvPr/>
        </p:nvGrpSpPr>
        <p:grpSpPr>
          <a:xfrm rot="0">
            <a:off x="1901030" y="6888339"/>
            <a:ext cx="3380381" cy="2409834"/>
            <a:chOff x="0" y="0"/>
            <a:chExt cx="890306" cy="634689"/>
          </a:xfrm>
        </p:grpSpPr>
        <p:sp>
          <p:nvSpPr>
            <p:cNvPr name="Freeform 24" id="24"/>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25" id="25"/>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26" id="26"/>
          <p:cNvGrpSpPr/>
          <p:nvPr/>
        </p:nvGrpSpPr>
        <p:grpSpPr>
          <a:xfrm rot="0">
            <a:off x="2053366" y="7063612"/>
            <a:ext cx="3075708" cy="776477"/>
            <a:chOff x="0" y="0"/>
            <a:chExt cx="810063" cy="204504"/>
          </a:xfrm>
        </p:grpSpPr>
        <p:sp>
          <p:nvSpPr>
            <p:cNvPr name="Freeform 27" id="27"/>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28" id="28"/>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9" id="29"/>
          <p:cNvGrpSpPr/>
          <p:nvPr/>
        </p:nvGrpSpPr>
        <p:grpSpPr>
          <a:xfrm rot="0">
            <a:off x="4391962" y="7097889"/>
            <a:ext cx="581194" cy="58119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2" id="32"/>
          <p:cNvGrpSpPr/>
          <p:nvPr/>
        </p:nvGrpSpPr>
        <p:grpSpPr>
          <a:xfrm rot="0">
            <a:off x="7313845" y="6888339"/>
            <a:ext cx="3380381" cy="2409834"/>
            <a:chOff x="0" y="0"/>
            <a:chExt cx="890306" cy="634689"/>
          </a:xfrm>
        </p:grpSpPr>
        <p:sp>
          <p:nvSpPr>
            <p:cNvPr name="Freeform 33" id="33"/>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34" id="34"/>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35" id="35"/>
          <p:cNvGrpSpPr/>
          <p:nvPr/>
        </p:nvGrpSpPr>
        <p:grpSpPr>
          <a:xfrm rot="0">
            <a:off x="7466181" y="6979424"/>
            <a:ext cx="3075708" cy="776477"/>
            <a:chOff x="0" y="0"/>
            <a:chExt cx="810063" cy="204504"/>
          </a:xfrm>
        </p:grpSpPr>
        <p:sp>
          <p:nvSpPr>
            <p:cNvPr name="Freeform 36" id="36"/>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37" id="37"/>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38" id="38"/>
          <p:cNvGrpSpPr/>
          <p:nvPr/>
        </p:nvGrpSpPr>
        <p:grpSpPr>
          <a:xfrm rot="0">
            <a:off x="9772547" y="7077066"/>
            <a:ext cx="581194" cy="58119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41" id="41"/>
          <p:cNvGrpSpPr/>
          <p:nvPr/>
        </p:nvGrpSpPr>
        <p:grpSpPr>
          <a:xfrm rot="0">
            <a:off x="12494001" y="6848466"/>
            <a:ext cx="3380381" cy="2409834"/>
            <a:chOff x="0" y="0"/>
            <a:chExt cx="890306" cy="634689"/>
          </a:xfrm>
        </p:grpSpPr>
        <p:sp>
          <p:nvSpPr>
            <p:cNvPr name="Freeform 42" id="42"/>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43" id="43"/>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44" id="44"/>
          <p:cNvGrpSpPr/>
          <p:nvPr/>
        </p:nvGrpSpPr>
        <p:grpSpPr>
          <a:xfrm rot="0">
            <a:off x="12608301" y="6947014"/>
            <a:ext cx="2957203" cy="776477"/>
            <a:chOff x="0" y="0"/>
            <a:chExt cx="778852" cy="204504"/>
          </a:xfrm>
        </p:grpSpPr>
        <p:sp>
          <p:nvSpPr>
            <p:cNvPr name="Freeform 45" id="45"/>
            <p:cNvSpPr/>
            <p:nvPr/>
          </p:nvSpPr>
          <p:spPr>
            <a:xfrm flipH="false" flipV="false" rot="0">
              <a:off x="0" y="0"/>
              <a:ext cx="778852" cy="204504"/>
            </a:xfrm>
            <a:custGeom>
              <a:avLst/>
              <a:gdLst/>
              <a:ahLst/>
              <a:cxnLst/>
              <a:rect r="r" b="b" t="t" l="l"/>
              <a:pathLst>
                <a:path h="204504" w="778852">
                  <a:moveTo>
                    <a:pt x="102252" y="0"/>
                  </a:moveTo>
                  <a:lnTo>
                    <a:pt x="676600" y="0"/>
                  </a:lnTo>
                  <a:cubicBezTo>
                    <a:pt x="703719" y="0"/>
                    <a:pt x="729727" y="10773"/>
                    <a:pt x="748903" y="29949"/>
                  </a:cubicBezTo>
                  <a:cubicBezTo>
                    <a:pt x="768079" y="49125"/>
                    <a:pt x="778852" y="75133"/>
                    <a:pt x="778852" y="102252"/>
                  </a:cubicBezTo>
                  <a:lnTo>
                    <a:pt x="778852" y="102252"/>
                  </a:lnTo>
                  <a:cubicBezTo>
                    <a:pt x="778852" y="158724"/>
                    <a:pt x="733072" y="204504"/>
                    <a:pt x="676600"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46" id="46"/>
            <p:cNvSpPr txBox="true"/>
            <p:nvPr/>
          </p:nvSpPr>
          <p:spPr>
            <a:xfrm>
              <a:off x="0" y="-38100"/>
              <a:ext cx="778852" cy="242604"/>
            </a:xfrm>
            <a:prstGeom prst="rect">
              <a:avLst/>
            </a:prstGeom>
          </p:spPr>
          <p:txBody>
            <a:bodyPr anchor="ctr" rtlCol="false" tIns="50800" lIns="50800" bIns="50800" rIns="50800"/>
            <a:lstStyle/>
            <a:p>
              <a:pPr algn="ctr" marL="0" indent="0" lvl="0">
                <a:lnSpc>
                  <a:spcPts val="2591"/>
                </a:lnSpc>
              </a:pPr>
            </a:p>
          </p:txBody>
        </p:sp>
      </p:grpSp>
      <p:grpSp>
        <p:nvGrpSpPr>
          <p:cNvPr name="Group 47" id="47"/>
          <p:cNvGrpSpPr/>
          <p:nvPr/>
        </p:nvGrpSpPr>
        <p:grpSpPr>
          <a:xfrm rot="0">
            <a:off x="14809281" y="7016363"/>
            <a:ext cx="581194" cy="58119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50" id="50"/>
          <p:cNvSpPr txBox="true"/>
          <p:nvPr/>
        </p:nvSpPr>
        <p:spPr>
          <a:xfrm rot="0">
            <a:off x="4748048" y="1103167"/>
            <a:ext cx="1662550" cy="347418"/>
          </a:xfrm>
          <a:prstGeom prst="rect">
            <a:avLst/>
          </a:prstGeom>
        </p:spPr>
        <p:txBody>
          <a:bodyPr anchor="t" rtlCol="false" tIns="0" lIns="0" bIns="0" rIns="0">
            <a:spAutoFit/>
          </a:bodyPr>
          <a:lstStyle/>
          <a:p>
            <a:pPr algn="ctr" marL="0" indent="0" lvl="0">
              <a:lnSpc>
                <a:spcPts val="2900"/>
              </a:lnSpc>
              <a:spcBef>
                <a:spcPct val="0"/>
              </a:spcBef>
            </a:pPr>
            <a:r>
              <a:rPr lang="en-US" sz="2072" spc="4">
                <a:solidFill>
                  <a:srgbClr val="101B40"/>
                </a:solidFill>
                <a:latin typeface="Montserrat"/>
                <a:ea typeface="Montserrat"/>
                <a:cs typeface="Montserrat"/>
                <a:sym typeface="Montserrat"/>
              </a:rPr>
              <a:t>HOME</a:t>
            </a:r>
          </a:p>
        </p:txBody>
      </p:sp>
      <p:sp>
        <p:nvSpPr>
          <p:cNvPr name="TextBox 51" id="51"/>
          <p:cNvSpPr txBox="true"/>
          <p:nvPr/>
        </p:nvSpPr>
        <p:spPr>
          <a:xfrm rot="0">
            <a:off x="6829803" y="1086165"/>
            <a:ext cx="1907082" cy="347418"/>
          </a:xfrm>
          <a:prstGeom prst="rect">
            <a:avLst/>
          </a:prstGeom>
        </p:spPr>
        <p:txBody>
          <a:bodyPr anchor="t" rtlCol="false" tIns="0" lIns="0" bIns="0" rIns="0">
            <a:spAutoFit/>
          </a:bodyPr>
          <a:lstStyle/>
          <a:p>
            <a:pPr algn="ctr" marL="0" indent="0" lvl="0">
              <a:lnSpc>
                <a:spcPts val="2900"/>
              </a:lnSpc>
              <a:spcBef>
                <a:spcPct val="0"/>
              </a:spcBef>
            </a:pPr>
            <a:r>
              <a:rPr lang="en-US" sz="2072" spc="4">
                <a:solidFill>
                  <a:srgbClr val="101B40"/>
                </a:solidFill>
                <a:latin typeface="Montserrat"/>
                <a:ea typeface="Montserrat"/>
                <a:cs typeface="Montserrat"/>
                <a:sym typeface="Montserrat"/>
              </a:rPr>
              <a:t>ABOUT</a:t>
            </a:r>
          </a:p>
        </p:txBody>
      </p:sp>
      <p:sp>
        <p:nvSpPr>
          <p:cNvPr name="TextBox 52" id="52"/>
          <p:cNvSpPr txBox="true"/>
          <p:nvPr/>
        </p:nvSpPr>
        <p:spPr>
          <a:xfrm rot="0">
            <a:off x="9480208" y="1086165"/>
            <a:ext cx="1589190" cy="347418"/>
          </a:xfrm>
          <a:prstGeom prst="rect">
            <a:avLst/>
          </a:prstGeom>
        </p:spPr>
        <p:txBody>
          <a:bodyPr anchor="t" rtlCol="false" tIns="0" lIns="0" bIns="0" rIns="0">
            <a:spAutoFit/>
          </a:bodyPr>
          <a:lstStyle/>
          <a:p>
            <a:pPr algn="ctr" marL="0" indent="0" lvl="0">
              <a:lnSpc>
                <a:spcPts val="2900"/>
              </a:lnSpc>
              <a:spcBef>
                <a:spcPct val="0"/>
              </a:spcBef>
            </a:pPr>
            <a:r>
              <a:rPr lang="en-US" b="true" sz="2072" spc="4">
                <a:solidFill>
                  <a:srgbClr val="F4F4F4"/>
                </a:solidFill>
                <a:latin typeface="Montserrat Bold"/>
                <a:ea typeface="Montserrat Bold"/>
                <a:cs typeface="Montserrat Bold"/>
                <a:sym typeface="Montserrat Bold"/>
              </a:rPr>
              <a:t>CONTENT</a:t>
            </a:r>
          </a:p>
        </p:txBody>
      </p:sp>
      <p:sp>
        <p:nvSpPr>
          <p:cNvPr name="TextBox 53" id="53"/>
          <p:cNvSpPr txBox="true"/>
          <p:nvPr/>
        </p:nvSpPr>
        <p:spPr>
          <a:xfrm rot="0">
            <a:off x="11545716" y="1086165"/>
            <a:ext cx="2224975" cy="330908"/>
          </a:xfrm>
          <a:prstGeom prst="rect">
            <a:avLst/>
          </a:prstGeom>
        </p:spPr>
        <p:txBody>
          <a:bodyPr anchor="t" rtlCol="false" tIns="0" lIns="0" bIns="0" rIns="0">
            <a:spAutoFit/>
          </a:bodyPr>
          <a:lstStyle/>
          <a:p>
            <a:pPr algn="ctr" marL="0" indent="0" lvl="0">
              <a:lnSpc>
                <a:spcPts val="2760"/>
              </a:lnSpc>
              <a:spcBef>
                <a:spcPct val="0"/>
              </a:spcBef>
            </a:pPr>
            <a:r>
              <a:rPr lang="en-US" sz="1972" spc="3">
                <a:solidFill>
                  <a:srgbClr val="101B40"/>
                </a:solidFill>
                <a:latin typeface="Montserrat"/>
                <a:ea typeface="Montserrat"/>
                <a:cs typeface="Montserrat"/>
                <a:sym typeface="Montserrat"/>
              </a:rPr>
              <a:t>OTHERS</a:t>
            </a:r>
          </a:p>
        </p:txBody>
      </p:sp>
      <p:sp>
        <p:nvSpPr>
          <p:cNvPr name="TextBox 54" id="54"/>
          <p:cNvSpPr txBox="true"/>
          <p:nvPr/>
        </p:nvSpPr>
        <p:spPr>
          <a:xfrm rot="0">
            <a:off x="8543424" y="4749780"/>
            <a:ext cx="8229559" cy="1300226"/>
          </a:xfrm>
          <a:prstGeom prst="rect">
            <a:avLst/>
          </a:prstGeom>
        </p:spPr>
        <p:txBody>
          <a:bodyPr anchor="t" rtlCol="false" tIns="0" lIns="0" bIns="0" rIns="0">
            <a:spAutoFit/>
          </a:bodyPr>
          <a:lstStyle/>
          <a:p>
            <a:pPr algn="just" marL="0" indent="0" lvl="0">
              <a:lnSpc>
                <a:spcPts val="3471"/>
              </a:lnSpc>
            </a:pPr>
            <a:r>
              <a:rPr lang="en-US" sz="2799" spc="-179">
                <a:solidFill>
                  <a:srgbClr val="000000"/>
                </a:solidFill>
                <a:latin typeface="Montserrat"/>
                <a:ea typeface="Montserrat"/>
                <a:cs typeface="Montserrat"/>
                <a:sym typeface="Montserrat"/>
              </a:rPr>
              <a:t>Luồng tích hợp từ dữ liệu thô đến quyết định: mỗi lớp xử lý, làm giàu và chuyển đổi thông tin – tạo nền tảng AI/GIS vận hành thực tế cho tỉnh Gia Lai.</a:t>
            </a:r>
          </a:p>
        </p:txBody>
      </p:sp>
      <p:sp>
        <p:nvSpPr>
          <p:cNvPr name="TextBox 55" id="55"/>
          <p:cNvSpPr txBox="true"/>
          <p:nvPr/>
        </p:nvSpPr>
        <p:spPr>
          <a:xfrm rot="0">
            <a:off x="7808058" y="1998497"/>
            <a:ext cx="9378207" cy="770018"/>
          </a:xfrm>
          <a:prstGeom prst="rect">
            <a:avLst/>
          </a:prstGeom>
        </p:spPr>
        <p:txBody>
          <a:bodyPr anchor="t" rtlCol="false" tIns="0" lIns="0" bIns="0" rIns="0">
            <a:spAutoFit/>
          </a:bodyPr>
          <a:lstStyle/>
          <a:p>
            <a:pPr algn="ctr" marL="0" indent="0" lvl="0">
              <a:lnSpc>
                <a:spcPts val="6383"/>
              </a:lnSpc>
              <a:spcBef>
                <a:spcPct val="0"/>
              </a:spcBef>
            </a:pPr>
            <a:r>
              <a:rPr lang="en-US" b="true" sz="4559" spc="-264">
                <a:solidFill>
                  <a:srgbClr val="101B40"/>
                </a:solidFill>
                <a:latin typeface="Montserrat Bold"/>
                <a:ea typeface="Montserrat Bold"/>
                <a:cs typeface="Montserrat Bold"/>
                <a:sym typeface="Montserrat Bold"/>
              </a:rPr>
              <a:t>Kiến Trúc Hệ Thống</a:t>
            </a:r>
          </a:p>
        </p:txBody>
      </p:sp>
      <p:sp>
        <p:nvSpPr>
          <p:cNvPr name="TextBox 56" id="56"/>
          <p:cNvSpPr txBox="true"/>
          <p:nvPr/>
        </p:nvSpPr>
        <p:spPr>
          <a:xfrm rot="0">
            <a:off x="7987966" y="3190378"/>
            <a:ext cx="9388534" cy="1292702"/>
          </a:xfrm>
          <a:prstGeom prst="rect">
            <a:avLst/>
          </a:prstGeom>
        </p:spPr>
        <p:txBody>
          <a:bodyPr anchor="t" rtlCol="false" tIns="0" lIns="0" bIns="0" rIns="0">
            <a:spAutoFit/>
          </a:bodyPr>
          <a:lstStyle/>
          <a:p>
            <a:pPr algn="ctr" marL="0" indent="0" lvl="0">
              <a:lnSpc>
                <a:spcPts val="4886"/>
              </a:lnSpc>
            </a:pPr>
            <a:r>
              <a:rPr lang="en-US" sz="5429" spc="-314">
                <a:solidFill>
                  <a:srgbClr val="101B40"/>
                </a:solidFill>
                <a:latin typeface="Montserrat"/>
                <a:ea typeface="Montserrat"/>
                <a:cs typeface="Montserrat"/>
                <a:sym typeface="Montserrat"/>
              </a:rPr>
              <a:t>Từ dữ liệu ban đầu đến các quyết định</a:t>
            </a:r>
          </a:p>
        </p:txBody>
      </p:sp>
      <p:sp>
        <p:nvSpPr>
          <p:cNvPr name="TextBox 57" id="57"/>
          <p:cNvSpPr txBox="true"/>
          <p:nvPr/>
        </p:nvSpPr>
        <p:spPr>
          <a:xfrm rot="0">
            <a:off x="2461883" y="7970543"/>
            <a:ext cx="2299261" cy="1077960"/>
          </a:xfrm>
          <a:prstGeom prst="rect">
            <a:avLst/>
          </a:prstGeom>
        </p:spPr>
        <p:txBody>
          <a:bodyPr anchor="t" rtlCol="false" tIns="0" lIns="0" bIns="0" rIns="0">
            <a:spAutoFit/>
          </a:bodyPr>
          <a:lstStyle/>
          <a:p>
            <a:pPr algn="ctr" marL="0" indent="0" lvl="0">
              <a:lnSpc>
                <a:spcPts val="2140"/>
              </a:lnSpc>
            </a:pPr>
            <a:r>
              <a:rPr lang="en-US" b="true" sz="1982" spc="-140">
                <a:solidFill>
                  <a:srgbClr val="F4F4F4"/>
                </a:solidFill>
                <a:latin typeface="Montserrat Semi-Bold"/>
                <a:ea typeface="Montserrat Semi-Bold"/>
                <a:cs typeface="Montserrat Semi-Bold"/>
                <a:sym typeface="Montserrat Semi-Bold"/>
              </a:rPr>
              <a:t>HỢP NHẤT DỮ LIỆU KHÔNG GIAN, THỜI GIAN &amp; MÔI TRƯỜNG</a:t>
            </a:r>
          </a:p>
        </p:txBody>
      </p:sp>
      <p:sp>
        <p:nvSpPr>
          <p:cNvPr name="TextBox 58" id="58"/>
          <p:cNvSpPr txBox="true"/>
          <p:nvPr/>
        </p:nvSpPr>
        <p:spPr>
          <a:xfrm rot="0">
            <a:off x="1929244" y="7307948"/>
            <a:ext cx="2660451" cy="289610"/>
          </a:xfrm>
          <a:prstGeom prst="rect">
            <a:avLst/>
          </a:prstGeom>
        </p:spPr>
        <p:txBody>
          <a:bodyPr anchor="t" rtlCol="false" tIns="0" lIns="0" bIns="0" rIns="0">
            <a:spAutoFit/>
          </a:bodyPr>
          <a:lstStyle/>
          <a:p>
            <a:pPr algn="ctr" marL="0" indent="0" lvl="0">
              <a:lnSpc>
                <a:spcPts val="2298"/>
              </a:lnSpc>
            </a:pPr>
            <a:r>
              <a:rPr lang="en-US" b="true" sz="2128" spc="-151">
                <a:solidFill>
                  <a:srgbClr val="8FA4C1"/>
                </a:solidFill>
                <a:latin typeface="Montserrat Bold"/>
                <a:ea typeface="Montserrat Bold"/>
                <a:cs typeface="Montserrat Bold"/>
                <a:sym typeface="Montserrat Bold"/>
              </a:rPr>
              <a:t>Dữ liệu đa chiều</a:t>
            </a:r>
          </a:p>
        </p:txBody>
      </p:sp>
      <p:sp>
        <p:nvSpPr>
          <p:cNvPr name="TextBox 59" id="59"/>
          <p:cNvSpPr txBox="true"/>
          <p:nvPr/>
        </p:nvSpPr>
        <p:spPr>
          <a:xfrm rot="0">
            <a:off x="7631745" y="7970543"/>
            <a:ext cx="2721996" cy="811105"/>
          </a:xfrm>
          <a:prstGeom prst="rect">
            <a:avLst/>
          </a:prstGeom>
        </p:spPr>
        <p:txBody>
          <a:bodyPr anchor="t" rtlCol="false" tIns="0" lIns="0" bIns="0" rIns="0">
            <a:spAutoFit/>
          </a:bodyPr>
          <a:lstStyle/>
          <a:p>
            <a:pPr algn="ctr" marL="0" indent="0" lvl="0">
              <a:lnSpc>
                <a:spcPts val="2129"/>
              </a:lnSpc>
            </a:pPr>
            <a:r>
              <a:rPr lang="en-US" b="true" sz="1972" spc="-140">
                <a:solidFill>
                  <a:srgbClr val="F4F4F4"/>
                </a:solidFill>
                <a:latin typeface="Montserrat Semi-Bold"/>
                <a:ea typeface="Montserrat Semi-Bold"/>
                <a:cs typeface="Montserrat Semi-Bold"/>
                <a:sym typeface="Montserrat Semi-Bold"/>
              </a:rPr>
              <a:t>THEO DÕI TRẠNG THÁI &amp; MÔ PHỎNG KỊCH BẢN TƯƠNG LAI</a:t>
            </a:r>
          </a:p>
        </p:txBody>
      </p:sp>
      <p:sp>
        <p:nvSpPr>
          <p:cNvPr name="TextBox 60" id="60"/>
          <p:cNvSpPr txBox="true"/>
          <p:nvPr/>
        </p:nvSpPr>
        <p:spPr>
          <a:xfrm rot="0">
            <a:off x="12802879" y="7872593"/>
            <a:ext cx="2762625" cy="1077805"/>
          </a:xfrm>
          <a:prstGeom prst="rect">
            <a:avLst/>
          </a:prstGeom>
        </p:spPr>
        <p:txBody>
          <a:bodyPr anchor="t" rtlCol="false" tIns="0" lIns="0" bIns="0" rIns="0">
            <a:spAutoFit/>
          </a:bodyPr>
          <a:lstStyle/>
          <a:p>
            <a:pPr algn="ctr" marL="0" indent="0" lvl="0">
              <a:lnSpc>
                <a:spcPts val="2129"/>
              </a:lnSpc>
            </a:pPr>
            <a:r>
              <a:rPr lang="en-US" b="true" sz="1972" spc="-140">
                <a:solidFill>
                  <a:srgbClr val="F4F4F4"/>
                </a:solidFill>
                <a:latin typeface="Montserrat Semi-Bold"/>
                <a:ea typeface="Montserrat Semi-Bold"/>
                <a:cs typeface="Montserrat Semi-Bold"/>
                <a:sym typeface="Montserrat Semi-Bold"/>
              </a:rPr>
              <a:t>PHÂN TÍCH ĐA TÁC NHÂN GÂY RA, KHUYẾN NGHỊ &amp; HỖ TRỢ QUYẾT ĐỊNH</a:t>
            </a:r>
          </a:p>
        </p:txBody>
      </p:sp>
      <p:sp>
        <p:nvSpPr>
          <p:cNvPr name="TextBox 61" id="61"/>
          <p:cNvSpPr txBox="true"/>
          <p:nvPr/>
        </p:nvSpPr>
        <p:spPr>
          <a:xfrm rot="0">
            <a:off x="7528753" y="7243334"/>
            <a:ext cx="2243794" cy="267708"/>
          </a:xfrm>
          <a:prstGeom prst="rect">
            <a:avLst/>
          </a:prstGeom>
        </p:spPr>
        <p:txBody>
          <a:bodyPr anchor="t" rtlCol="false" tIns="0" lIns="0" bIns="0" rIns="0">
            <a:spAutoFit/>
          </a:bodyPr>
          <a:lstStyle/>
          <a:p>
            <a:pPr algn="ctr" marL="0" indent="0" lvl="0">
              <a:lnSpc>
                <a:spcPts val="2097"/>
              </a:lnSpc>
            </a:pPr>
            <a:r>
              <a:rPr lang="en-US" b="true" sz="1941" spc="-137">
                <a:solidFill>
                  <a:srgbClr val="8FA4C1"/>
                </a:solidFill>
                <a:latin typeface="Montserrat Bold"/>
                <a:ea typeface="Montserrat Bold"/>
                <a:cs typeface="Montserrat Bold"/>
                <a:sym typeface="Montserrat Bold"/>
              </a:rPr>
              <a:t>Giám sát hiện trạng</a:t>
            </a:r>
          </a:p>
        </p:txBody>
      </p:sp>
      <p:sp>
        <p:nvSpPr>
          <p:cNvPr name="TextBox 62" id="62"/>
          <p:cNvSpPr txBox="true"/>
          <p:nvPr/>
        </p:nvSpPr>
        <p:spPr>
          <a:xfrm rot="0">
            <a:off x="12608301" y="7082662"/>
            <a:ext cx="2272369" cy="524231"/>
          </a:xfrm>
          <a:prstGeom prst="rect">
            <a:avLst/>
          </a:prstGeom>
        </p:spPr>
        <p:txBody>
          <a:bodyPr anchor="t" rtlCol="false" tIns="0" lIns="0" bIns="0" rIns="0">
            <a:spAutoFit/>
          </a:bodyPr>
          <a:lstStyle/>
          <a:p>
            <a:pPr algn="ctr" marL="0" indent="0" lvl="0">
              <a:lnSpc>
                <a:spcPts val="2051"/>
              </a:lnSpc>
            </a:pPr>
            <a:r>
              <a:rPr lang="en-US" b="true" sz="1899" spc="-134">
                <a:solidFill>
                  <a:srgbClr val="8FA4C1"/>
                </a:solidFill>
                <a:latin typeface="Montserrat Bold"/>
                <a:ea typeface="Montserrat Bold"/>
                <a:cs typeface="Montserrat Bold"/>
                <a:sym typeface="Montserrat Bold"/>
              </a:rPr>
              <a:t>Phân tích đa tác nhân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290977" y="628301"/>
            <a:ext cx="1980272" cy="588932"/>
            <a:chOff x="0" y="0"/>
            <a:chExt cx="521553" cy="155110"/>
          </a:xfrm>
        </p:grpSpPr>
        <p:sp>
          <p:nvSpPr>
            <p:cNvPr name="Freeform 6" id="6"/>
            <p:cNvSpPr/>
            <p:nvPr/>
          </p:nvSpPr>
          <p:spPr>
            <a:xfrm flipH="false" flipV="false" rot="0">
              <a:off x="0" y="0"/>
              <a:ext cx="521553" cy="155110"/>
            </a:xfrm>
            <a:custGeom>
              <a:avLst/>
              <a:gdLst/>
              <a:ahLst/>
              <a:cxnLst/>
              <a:rect r="r" b="b" t="t" l="l"/>
              <a:pathLst>
                <a:path h="155110" w="521553">
                  <a:moveTo>
                    <a:pt x="77555" y="0"/>
                  </a:moveTo>
                  <a:lnTo>
                    <a:pt x="443998" y="0"/>
                  </a:lnTo>
                  <a:cubicBezTo>
                    <a:pt x="486831" y="0"/>
                    <a:pt x="521553" y="34722"/>
                    <a:pt x="521553" y="77555"/>
                  </a:cubicBezTo>
                  <a:lnTo>
                    <a:pt x="521553" y="77555"/>
                  </a:lnTo>
                  <a:cubicBezTo>
                    <a:pt x="521553" y="120387"/>
                    <a:pt x="486831" y="155110"/>
                    <a:pt x="443998"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521553"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9" id="9"/>
          <p:cNvGrpSpPr/>
          <p:nvPr/>
        </p:nvGrpSpPr>
        <p:grpSpPr>
          <a:xfrm rot="0">
            <a:off x="-321703" y="0"/>
            <a:ext cx="4264059" cy="10287000"/>
            <a:chOff x="0" y="0"/>
            <a:chExt cx="1123044" cy="2709333"/>
          </a:xfrm>
        </p:grpSpPr>
        <p:sp>
          <p:nvSpPr>
            <p:cNvPr name="Freeform 10" id="10"/>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11" id="11"/>
            <p:cNvSpPr txBox="true"/>
            <p:nvPr/>
          </p:nvSpPr>
          <p:spPr>
            <a:xfrm>
              <a:off x="0" y="-38100"/>
              <a:ext cx="1123044" cy="2747433"/>
            </a:xfrm>
            <a:prstGeom prst="rect">
              <a:avLst/>
            </a:prstGeom>
          </p:spPr>
          <p:txBody>
            <a:bodyPr anchor="ctr" rtlCol="false" tIns="50800" lIns="50800" bIns="50800" rIns="50800"/>
            <a:lstStyle/>
            <a:p>
              <a:pPr algn="ctr" marL="0" indent="0" lvl="0">
                <a:lnSpc>
                  <a:spcPts val="2591"/>
                </a:lnSpc>
              </a:pPr>
            </a:p>
          </p:txBody>
        </p:sp>
      </p:grpSp>
      <p:grpSp>
        <p:nvGrpSpPr>
          <p:cNvPr name="Group 12" id="12"/>
          <p:cNvGrpSpPr/>
          <p:nvPr/>
        </p:nvGrpSpPr>
        <p:grpSpPr>
          <a:xfrm rot="0">
            <a:off x="1398523" y="2161933"/>
            <a:ext cx="6968279" cy="6812433"/>
            <a:chOff x="0" y="0"/>
            <a:chExt cx="1079569" cy="1055424"/>
          </a:xfrm>
        </p:grpSpPr>
        <p:sp>
          <p:nvSpPr>
            <p:cNvPr name="Freeform 13" id="13"/>
            <p:cNvSpPr/>
            <p:nvPr/>
          </p:nvSpPr>
          <p:spPr>
            <a:xfrm flipH="false" flipV="false" rot="0">
              <a:off x="0" y="0"/>
              <a:ext cx="1079569" cy="1055424"/>
            </a:xfrm>
            <a:custGeom>
              <a:avLst/>
              <a:gdLst/>
              <a:ahLst/>
              <a:cxnLst/>
              <a:rect r="r" b="b" t="t" l="l"/>
              <a:pathLst>
                <a:path h="1055424" w="1079569">
                  <a:moveTo>
                    <a:pt x="35553" y="0"/>
                  </a:moveTo>
                  <a:lnTo>
                    <a:pt x="1044016" y="0"/>
                  </a:lnTo>
                  <a:cubicBezTo>
                    <a:pt x="1063651" y="0"/>
                    <a:pt x="1079569" y="15918"/>
                    <a:pt x="1079569" y="35553"/>
                  </a:cubicBezTo>
                  <a:lnTo>
                    <a:pt x="1079569" y="1019871"/>
                  </a:lnTo>
                  <a:cubicBezTo>
                    <a:pt x="1079569" y="1029301"/>
                    <a:pt x="1075823" y="1038344"/>
                    <a:pt x="1069156" y="1045011"/>
                  </a:cubicBezTo>
                  <a:cubicBezTo>
                    <a:pt x="1062488" y="1051678"/>
                    <a:pt x="1053445" y="1055424"/>
                    <a:pt x="1044016" y="1055424"/>
                  </a:cubicBezTo>
                  <a:lnTo>
                    <a:pt x="35553" y="1055424"/>
                  </a:lnTo>
                  <a:cubicBezTo>
                    <a:pt x="15918" y="1055424"/>
                    <a:pt x="0" y="1039507"/>
                    <a:pt x="0" y="1019871"/>
                  </a:cubicBezTo>
                  <a:lnTo>
                    <a:pt x="0" y="35553"/>
                  </a:lnTo>
                  <a:cubicBezTo>
                    <a:pt x="0" y="15918"/>
                    <a:pt x="15918" y="0"/>
                    <a:pt x="35553" y="0"/>
                  </a:cubicBezTo>
                  <a:close/>
                </a:path>
              </a:pathLst>
            </a:custGeom>
            <a:blipFill>
              <a:blip r:embed="rId4"/>
              <a:stretch>
                <a:fillRect l="0" t="-312" r="0" b="-312"/>
              </a:stretch>
            </a:blipFill>
          </p:spPr>
        </p:sp>
      </p:grpSp>
      <p:grpSp>
        <p:nvGrpSpPr>
          <p:cNvPr name="Group 14" id="14"/>
          <p:cNvGrpSpPr/>
          <p:nvPr/>
        </p:nvGrpSpPr>
        <p:grpSpPr>
          <a:xfrm rot="0">
            <a:off x="6829803" y="1927533"/>
            <a:ext cx="1822999" cy="182299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7" id="17"/>
          <p:cNvGrpSpPr/>
          <p:nvPr/>
        </p:nvGrpSpPr>
        <p:grpSpPr>
          <a:xfrm rot="0">
            <a:off x="7400238" y="2497968"/>
            <a:ext cx="682130" cy="6821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Freeform 20" id="20"/>
          <p:cNvSpPr/>
          <p:nvPr/>
        </p:nvSpPr>
        <p:spPr>
          <a:xfrm flipH="false" flipV="false" rot="0">
            <a:off x="15887644" y="7886644"/>
            <a:ext cx="1371656" cy="1371656"/>
          </a:xfrm>
          <a:custGeom>
            <a:avLst/>
            <a:gdLst/>
            <a:ahLst/>
            <a:cxnLst/>
            <a:rect r="r" b="b" t="t" l="l"/>
            <a:pathLst>
              <a:path h="1371656" w="1371656">
                <a:moveTo>
                  <a:pt x="0" y="0"/>
                </a:moveTo>
                <a:lnTo>
                  <a:pt x="1371656" y="0"/>
                </a:lnTo>
                <a:lnTo>
                  <a:pt x="1371656" y="1371656"/>
                </a:lnTo>
                <a:lnTo>
                  <a:pt x="0" y="1371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4441856" y="739270"/>
            <a:ext cx="1662550" cy="330201"/>
          </a:xfrm>
          <a:prstGeom prst="rect">
            <a:avLst/>
          </a:prstGeom>
        </p:spPr>
        <p:txBody>
          <a:bodyPr anchor="t" rtlCol="false" tIns="0" lIns="0" bIns="0" rIns="0">
            <a:spAutoFit/>
          </a:bodyPr>
          <a:lstStyle/>
          <a:p>
            <a:pPr algn="ctr" marL="0" indent="0" lvl="0">
              <a:lnSpc>
                <a:spcPts val="2799"/>
              </a:lnSpc>
              <a:spcBef>
                <a:spcPct val="0"/>
              </a:spcBef>
            </a:pPr>
            <a:r>
              <a:rPr lang="en-US" sz="1999" spc="3">
                <a:solidFill>
                  <a:srgbClr val="101B40"/>
                </a:solidFill>
                <a:latin typeface="Montserrat"/>
                <a:ea typeface="Montserrat"/>
                <a:cs typeface="Montserrat"/>
                <a:sym typeface="Montserrat"/>
              </a:rPr>
              <a:t>HOME</a:t>
            </a:r>
          </a:p>
        </p:txBody>
      </p:sp>
      <p:sp>
        <p:nvSpPr>
          <p:cNvPr name="TextBox 22" id="22"/>
          <p:cNvSpPr txBox="true"/>
          <p:nvPr/>
        </p:nvSpPr>
        <p:spPr>
          <a:xfrm rot="0">
            <a:off x="6745720" y="741483"/>
            <a:ext cx="1907082" cy="330201"/>
          </a:xfrm>
          <a:prstGeom prst="rect">
            <a:avLst/>
          </a:prstGeom>
        </p:spPr>
        <p:txBody>
          <a:bodyPr anchor="t" rtlCol="false" tIns="0" lIns="0" bIns="0" rIns="0">
            <a:spAutoFit/>
          </a:bodyPr>
          <a:lstStyle/>
          <a:p>
            <a:pPr algn="ctr" marL="0" indent="0" lvl="0">
              <a:lnSpc>
                <a:spcPts val="2799"/>
              </a:lnSpc>
              <a:spcBef>
                <a:spcPct val="0"/>
              </a:spcBef>
            </a:pPr>
            <a:r>
              <a:rPr lang="en-US" sz="1999" spc="3">
                <a:solidFill>
                  <a:srgbClr val="101B40"/>
                </a:solidFill>
                <a:latin typeface="Montserrat"/>
                <a:ea typeface="Montserrat"/>
                <a:cs typeface="Montserrat"/>
                <a:sym typeface="Montserrat"/>
              </a:rPr>
              <a:t>ABOUT</a:t>
            </a:r>
          </a:p>
        </p:txBody>
      </p:sp>
      <p:sp>
        <p:nvSpPr>
          <p:cNvPr name="TextBox 23" id="23"/>
          <p:cNvSpPr txBox="true"/>
          <p:nvPr/>
        </p:nvSpPr>
        <p:spPr>
          <a:xfrm rot="0">
            <a:off x="9499106" y="741483"/>
            <a:ext cx="1589190" cy="280670"/>
          </a:xfrm>
          <a:prstGeom prst="rect">
            <a:avLst/>
          </a:prstGeom>
        </p:spPr>
        <p:txBody>
          <a:bodyPr anchor="t" rtlCol="false" tIns="0" lIns="0" bIns="0" rIns="0">
            <a:spAutoFit/>
          </a:bodyPr>
          <a:lstStyle/>
          <a:p>
            <a:pPr algn="ctr" marL="0" indent="0" lvl="0">
              <a:lnSpc>
                <a:spcPts val="2379"/>
              </a:lnSpc>
              <a:spcBef>
                <a:spcPct val="0"/>
              </a:spcBef>
            </a:pPr>
            <a:r>
              <a:rPr lang="en-US" b="true" sz="1699" spc="3">
                <a:solidFill>
                  <a:srgbClr val="F4F4F4"/>
                </a:solidFill>
                <a:latin typeface="Montserrat Bold"/>
                <a:ea typeface="Montserrat Bold"/>
                <a:cs typeface="Montserrat Bold"/>
                <a:sym typeface="Montserrat Bold"/>
              </a:rPr>
              <a:t>DATA FABRIC</a:t>
            </a:r>
          </a:p>
        </p:txBody>
      </p:sp>
      <p:sp>
        <p:nvSpPr>
          <p:cNvPr name="TextBox 24" id="24"/>
          <p:cNvSpPr txBox="true"/>
          <p:nvPr/>
        </p:nvSpPr>
        <p:spPr>
          <a:xfrm rot="0">
            <a:off x="11582123" y="715448"/>
            <a:ext cx="2224975"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05 / 12</a:t>
            </a:r>
          </a:p>
        </p:txBody>
      </p:sp>
      <p:sp>
        <p:nvSpPr>
          <p:cNvPr name="TextBox 25" id="25"/>
          <p:cNvSpPr txBox="true"/>
          <p:nvPr/>
        </p:nvSpPr>
        <p:spPr>
          <a:xfrm rot="0">
            <a:off x="804572" y="627964"/>
            <a:ext cx="1888114" cy="561754"/>
          </a:xfrm>
          <a:prstGeom prst="rect">
            <a:avLst/>
          </a:prstGeom>
        </p:spPr>
        <p:txBody>
          <a:bodyPr anchor="t" rtlCol="false" tIns="0" lIns="0" bIns="0" rIns="0">
            <a:spAutoFit/>
          </a:bodyPr>
          <a:lstStyle/>
          <a:p>
            <a:pPr algn="l" marL="0" indent="0" lvl="0">
              <a:lnSpc>
                <a:spcPts val="2212"/>
              </a:lnSpc>
            </a:pPr>
            <a:r>
              <a:rPr lang="en-US" b="true" sz="2029" spc="4">
                <a:solidFill>
                  <a:srgbClr val="101B40"/>
                </a:solidFill>
                <a:latin typeface="Montserrat Bold"/>
                <a:ea typeface="Montserrat Bold"/>
                <a:cs typeface="Montserrat Bold"/>
                <a:sym typeface="Montserrat Bold"/>
              </a:rPr>
              <a:t>GIALAI</a:t>
            </a:r>
          </a:p>
          <a:p>
            <a:pPr algn="l" marL="0" indent="0" lvl="0">
              <a:lnSpc>
                <a:spcPts val="2212"/>
              </a:lnSpc>
            </a:pPr>
            <a:r>
              <a:rPr lang="en-US" b="true" sz="2029" spc="4">
                <a:solidFill>
                  <a:srgbClr val="101B40"/>
                </a:solidFill>
                <a:latin typeface="Montserrat Bold"/>
                <a:ea typeface="Montserrat Bold"/>
                <a:cs typeface="Montserrat Bold"/>
                <a:sym typeface="Montserrat Bold"/>
              </a:rPr>
              <a:t>ECOCHAIN 1.0</a:t>
            </a:r>
          </a:p>
        </p:txBody>
      </p:sp>
      <p:sp>
        <p:nvSpPr>
          <p:cNvPr name="TextBox 26" id="26"/>
          <p:cNvSpPr txBox="true"/>
          <p:nvPr/>
        </p:nvSpPr>
        <p:spPr>
          <a:xfrm rot="0">
            <a:off x="9549720" y="2689226"/>
            <a:ext cx="7448140" cy="554792"/>
          </a:xfrm>
          <a:prstGeom prst="rect">
            <a:avLst/>
          </a:prstGeom>
        </p:spPr>
        <p:txBody>
          <a:bodyPr anchor="t" rtlCol="false" tIns="0" lIns="0" bIns="0" rIns="0">
            <a:spAutoFit/>
          </a:bodyPr>
          <a:lstStyle/>
          <a:p>
            <a:pPr algn="just" marL="0" indent="0" lvl="0">
              <a:lnSpc>
                <a:spcPts val="4595"/>
              </a:lnSpc>
              <a:spcBef>
                <a:spcPct val="0"/>
              </a:spcBef>
            </a:pPr>
            <a:r>
              <a:rPr lang="en-US" sz="3282" spc="-190">
                <a:solidFill>
                  <a:srgbClr val="101B40"/>
                </a:solidFill>
                <a:latin typeface="Montserrat"/>
                <a:ea typeface="Montserrat"/>
                <a:cs typeface="Montserrat"/>
                <a:sym typeface="Montserrat"/>
              </a:rPr>
              <a:t>DATA FARABIC</a:t>
            </a:r>
          </a:p>
        </p:txBody>
      </p:sp>
      <p:sp>
        <p:nvSpPr>
          <p:cNvPr name="TextBox 27" id="27"/>
          <p:cNvSpPr txBox="true"/>
          <p:nvPr/>
        </p:nvSpPr>
        <p:spPr>
          <a:xfrm rot="0">
            <a:off x="9549720" y="3535300"/>
            <a:ext cx="6741273" cy="1131528"/>
          </a:xfrm>
          <a:prstGeom prst="rect">
            <a:avLst/>
          </a:prstGeom>
        </p:spPr>
        <p:txBody>
          <a:bodyPr anchor="t" rtlCol="false" tIns="0" lIns="0" bIns="0" rIns="0">
            <a:spAutoFit/>
          </a:bodyPr>
          <a:lstStyle/>
          <a:p>
            <a:pPr algn="just" marL="0" indent="0" lvl="0">
              <a:lnSpc>
                <a:spcPts val="4337"/>
              </a:lnSpc>
            </a:pPr>
            <a:r>
              <a:rPr lang="en-US" b="true" sz="4819" spc="-279">
                <a:solidFill>
                  <a:srgbClr val="101B40"/>
                </a:solidFill>
                <a:latin typeface="Montserrat Bold"/>
                <a:ea typeface="Montserrat Bold"/>
                <a:cs typeface="Montserrat Bold"/>
                <a:sym typeface="Montserrat Bold"/>
              </a:rPr>
              <a:t>Nền Tảng</a:t>
            </a:r>
          </a:p>
          <a:p>
            <a:pPr algn="just" marL="0" indent="0" lvl="0">
              <a:lnSpc>
                <a:spcPts val="4337"/>
              </a:lnSpc>
            </a:pPr>
            <a:r>
              <a:rPr lang="en-US" b="true" sz="4819" spc="-279">
                <a:solidFill>
                  <a:srgbClr val="101B40"/>
                </a:solidFill>
                <a:latin typeface="Montserrat Bold"/>
                <a:ea typeface="Montserrat Bold"/>
                <a:cs typeface="Montserrat Bold"/>
                <a:sym typeface="Montserrat Bold"/>
              </a:rPr>
              <a:t>Dữ Liệu</a:t>
            </a:r>
          </a:p>
        </p:txBody>
      </p:sp>
      <p:sp>
        <p:nvSpPr>
          <p:cNvPr name="TextBox 28" id="28"/>
          <p:cNvSpPr txBox="true"/>
          <p:nvPr/>
        </p:nvSpPr>
        <p:spPr>
          <a:xfrm rot="0">
            <a:off x="9549720" y="5932042"/>
            <a:ext cx="6337924" cy="2176526"/>
          </a:xfrm>
          <a:prstGeom prst="rect">
            <a:avLst/>
          </a:prstGeom>
        </p:spPr>
        <p:txBody>
          <a:bodyPr anchor="t" rtlCol="false" tIns="0" lIns="0" bIns="0" rIns="0">
            <a:spAutoFit/>
          </a:bodyPr>
          <a:lstStyle/>
          <a:p>
            <a:pPr algn="just" marL="0" indent="0" lvl="0">
              <a:lnSpc>
                <a:spcPts val="3471"/>
              </a:lnSpc>
            </a:pPr>
            <a:r>
              <a:rPr lang="en-US" sz="2799" spc="-179">
                <a:solidFill>
                  <a:srgbClr val="000000"/>
                </a:solidFill>
                <a:latin typeface="Montserrat"/>
                <a:ea typeface="Montserrat"/>
                <a:cs typeface="Montserrat"/>
                <a:sym typeface="Montserrat"/>
              </a:rPr>
              <a:t>Nguồn dữ liệu tích hợp:</a:t>
            </a:r>
          </a:p>
          <a:p>
            <a:pPr algn="just" marL="0" indent="0" lvl="0">
              <a:lnSpc>
                <a:spcPts val="3471"/>
              </a:lnSpc>
            </a:pPr>
            <a:r>
              <a:rPr lang="en-US" sz="2799" spc="-179">
                <a:solidFill>
                  <a:srgbClr val="000000"/>
                </a:solidFill>
                <a:latin typeface="Montserrat"/>
                <a:ea typeface="Montserrat"/>
                <a:cs typeface="Montserrat"/>
                <a:sym typeface="Montserrat"/>
              </a:rPr>
              <a:t>🛰 Vệ tinh  |  🌦 Thời tiết  |  🏔 Địa hình</a:t>
            </a:r>
          </a:p>
          <a:p>
            <a:pPr algn="just" marL="0" indent="0" lvl="0">
              <a:lnSpc>
                <a:spcPts val="3471"/>
              </a:lnSpc>
            </a:pPr>
            <a:r>
              <a:rPr lang="en-US" sz="2799" spc="-179">
                <a:solidFill>
                  <a:srgbClr val="000000"/>
                </a:solidFill>
                <a:latin typeface="Montserrat"/>
                <a:ea typeface="Montserrat"/>
                <a:cs typeface="Montserrat"/>
                <a:sym typeface="Montserrat"/>
              </a:rPr>
              <a:t>🔥 Cháy rừng  |  🌾 Nông nghiệp  |  👤 Hoạt động con người</a:t>
            </a:r>
          </a:p>
          <a:p>
            <a:pPr algn="just" marL="0" indent="0" lvl="0">
              <a:lnSpc>
                <a:spcPts val="3471"/>
              </a:lnSpc>
            </a:pPr>
            <a:r>
              <a:rPr lang="en-US" sz="2799" spc="-179">
                <a:solidFill>
                  <a:srgbClr val="000000"/>
                </a:solidFill>
                <a:latin typeface="Montserrat"/>
                <a:ea typeface="Montserrat"/>
                <a:cs typeface="Montserrat"/>
                <a:sym typeface="Montserrat"/>
              </a:rPr>
              <a:t>Simulation/Demo Data</a:t>
            </a:r>
          </a:p>
        </p:txBody>
      </p:sp>
      <p:sp>
        <p:nvSpPr>
          <p:cNvPr name="TextBox 29" id="29"/>
          <p:cNvSpPr txBox="true"/>
          <p:nvPr/>
        </p:nvSpPr>
        <p:spPr>
          <a:xfrm rot="0">
            <a:off x="9549720" y="5109505"/>
            <a:ext cx="7063045" cy="604407"/>
          </a:xfrm>
          <a:prstGeom prst="rect">
            <a:avLst/>
          </a:prstGeom>
        </p:spPr>
        <p:txBody>
          <a:bodyPr anchor="t" rtlCol="false" tIns="0" lIns="0" bIns="0" rIns="0">
            <a:spAutoFit/>
          </a:bodyPr>
          <a:lstStyle/>
          <a:p>
            <a:pPr algn="just" marL="0" indent="0" lvl="0">
              <a:lnSpc>
                <a:spcPts val="2331"/>
              </a:lnSpc>
            </a:pPr>
            <a:r>
              <a:rPr lang="en-US" b="true" sz="2159" i="true" spc="-153">
                <a:solidFill>
                  <a:srgbClr val="8FA4C1"/>
                </a:solidFill>
                <a:latin typeface="Montserrat Semi-Bold Italics"/>
                <a:ea typeface="Montserrat Semi-Bold Italics"/>
                <a:cs typeface="Montserrat Semi-Bold Italics"/>
                <a:sym typeface="Montserrat Semi-Bold Italics"/>
              </a:rPr>
              <a:t>HỢP NHẤT DỮ LIỆU KHÔNG GIAN, THỜI GIAN VÀ MÔI TRƯỜNG.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350265" y="341540"/>
            <a:ext cx="17587469" cy="9603920"/>
            <a:chOff x="0" y="0"/>
            <a:chExt cx="4632091" cy="2529427"/>
          </a:xfrm>
        </p:grpSpPr>
        <p:sp>
          <p:nvSpPr>
            <p:cNvPr name="Freeform 3" id="3"/>
            <p:cNvSpPr/>
            <p:nvPr/>
          </p:nvSpPr>
          <p:spPr>
            <a:xfrm flipH="false" flipV="false" rot="0">
              <a:off x="0" y="0"/>
              <a:ext cx="4632091" cy="2529427"/>
            </a:xfrm>
            <a:custGeom>
              <a:avLst/>
              <a:gdLst/>
              <a:ahLst/>
              <a:cxnLst/>
              <a:rect r="r" b="b" t="t" l="l"/>
              <a:pathLst>
                <a:path h="2529427" w="4632091">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name="TextBox 4" id="4"/>
            <p:cNvSpPr txBox="true"/>
            <p:nvPr/>
          </p:nvSpPr>
          <p:spPr>
            <a:xfrm>
              <a:off x="0" y="-38100"/>
              <a:ext cx="4632091" cy="2567527"/>
            </a:xfrm>
            <a:prstGeom prst="rect">
              <a:avLst/>
            </a:prstGeom>
          </p:spPr>
          <p:txBody>
            <a:bodyPr anchor="ctr" rtlCol="false" tIns="50800" lIns="50800" bIns="50800" rIns="50800"/>
            <a:lstStyle/>
            <a:p>
              <a:pPr algn="ctr" marL="0" indent="0" lvl="0">
                <a:lnSpc>
                  <a:spcPts val="2591"/>
                </a:lnSpc>
              </a:pPr>
            </a:p>
          </p:txBody>
        </p:sp>
      </p:grpSp>
      <p:grpSp>
        <p:nvGrpSpPr>
          <p:cNvPr name="Group 5" id="5"/>
          <p:cNvGrpSpPr/>
          <p:nvPr/>
        </p:nvGrpSpPr>
        <p:grpSpPr>
          <a:xfrm rot="0">
            <a:off x="4409081" y="762000"/>
            <a:ext cx="9469839" cy="814592"/>
            <a:chOff x="0" y="0"/>
            <a:chExt cx="2494114" cy="214543"/>
          </a:xfrm>
        </p:grpSpPr>
        <p:sp>
          <p:nvSpPr>
            <p:cNvPr name="Freeform 6" id="6"/>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7" id="7"/>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8" id="8"/>
          <p:cNvGrpSpPr/>
          <p:nvPr/>
        </p:nvGrpSpPr>
        <p:grpSpPr>
          <a:xfrm rot="0">
            <a:off x="9460786" y="874830"/>
            <a:ext cx="1665830" cy="588932"/>
            <a:chOff x="0" y="0"/>
            <a:chExt cx="438737" cy="155110"/>
          </a:xfrm>
        </p:grpSpPr>
        <p:sp>
          <p:nvSpPr>
            <p:cNvPr name="Freeform 9" id="9"/>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10" id="10"/>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11" id="11"/>
          <p:cNvSpPr/>
          <p:nvPr/>
        </p:nvSpPr>
        <p:spPr>
          <a:xfrm flipH="false" flipV="false" rot="0">
            <a:off x="16736419" y="924288"/>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12" id="12"/>
          <p:cNvGrpSpPr/>
          <p:nvPr/>
        </p:nvGrpSpPr>
        <p:grpSpPr>
          <a:xfrm rot="0">
            <a:off x="16465001" y="8346801"/>
            <a:ext cx="1822999" cy="18229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5" id="15"/>
          <p:cNvGrpSpPr/>
          <p:nvPr/>
        </p:nvGrpSpPr>
        <p:grpSpPr>
          <a:xfrm rot="0">
            <a:off x="17035435" y="8917235"/>
            <a:ext cx="682130" cy="6821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8" id="18"/>
          <p:cNvGrpSpPr/>
          <p:nvPr/>
        </p:nvGrpSpPr>
        <p:grpSpPr>
          <a:xfrm rot="0">
            <a:off x="-1014013" y="7723491"/>
            <a:ext cx="2728557" cy="2387487"/>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1F1F1"/>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591"/>
                </a:lnSpc>
              </a:pPr>
            </a:p>
          </p:txBody>
        </p:sp>
      </p:grpSp>
      <p:grpSp>
        <p:nvGrpSpPr>
          <p:cNvPr name="Group 21" id="21"/>
          <p:cNvGrpSpPr/>
          <p:nvPr/>
        </p:nvGrpSpPr>
        <p:grpSpPr>
          <a:xfrm rot="0">
            <a:off x="1230046" y="2421605"/>
            <a:ext cx="5879177" cy="3912159"/>
            <a:chOff x="0" y="0"/>
            <a:chExt cx="910838" cy="606096"/>
          </a:xfrm>
        </p:grpSpPr>
        <p:sp>
          <p:nvSpPr>
            <p:cNvPr name="Freeform 22" id="22"/>
            <p:cNvSpPr/>
            <p:nvPr/>
          </p:nvSpPr>
          <p:spPr>
            <a:xfrm flipH="false" flipV="false" rot="0">
              <a:off x="0" y="0"/>
              <a:ext cx="910838" cy="606096"/>
            </a:xfrm>
            <a:custGeom>
              <a:avLst/>
              <a:gdLst/>
              <a:ahLst/>
              <a:cxnLst/>
              <a:rect r="r" b="b" t="t" l="l"/>
              <a:pathLst>
                <a:path h="606096" w="910838">
                  <a:moveTo>
                    <a:pt x="42139" y="0"/>
                  </a:moveTo>
                  <a:lnTo>
                    <a:pt x="868699" y="0"/>
                  </a:lnTo>
                  <a:cubicBezTo>
                    <a:pt x="891972" y="0"/>
                    <a:pt x="910838" y="18866"/>
                    <a:pt x="910838" y="42139"/>
                  </a:cubicBezTo>
                  <a:lnTo>
                    <a:pt x="910838" y="563957"/>
                  </a:lnTo>
                  <a:cubicBezTo>
                    <a:pt x="910838" y="587230"/>
                    <a:pt x="891972" y="606096"/>
                    <a:pt x="868699" y="606096"/>
                  </a:cubicBezTo>
                  <a:lnTo>
                    <a:pt x="42139" y="606096"/>
                  </a:lnTo>
                  <a:cubicBezTo>
                    <a:pt x="18866" y="606096"/>
                    <a:pt x="0" y="587230"/>
                    <a:pt x="0" y="563957"/>
                  </a:cubicBezTo>
                  <a:lnTo>
                    <a:pt x="0" y="42139"/>
                  </a:lnTo>
                  <a:cubicBezTo>
                    <a:pt x="0" y="18866"/>
                    <a:pt x="18866" y="0"/>
                    <a:pt x="42139" y="0"/>
                  </a:cubicBezTo>
                  <a:close/>
                </a:path>
              </a:pathLst>
            </a:custGeom>
            <a:blipFill>
              <a:blip r:embed="rId4"/>
              <a:stretch>
                <a:fillRect l="0" t="-343" r="0" b="-343"/>
              </a:stretch>
            </a:blipFill>
          </p:spPr>
        </p:sp>
      </p:grpSp>
      <p:grpSp>
        <p:nvGrpSpPr>
          <p:cNvPr name="Group 23" id="23"/>
          <p:cNvGrpSpPr/>
          <p:nvPr/>
        </p:nvGrpSpPr>
        <p:grpSpPr>
          <a:xfrm rot="0">
            <a:off x="1748630" y="6924666"/>
            <a:ext cx="3380381" cy="2409834"/>
            <a:chOff x="0" y="0"/>
            <a:chExt cx="890306" cy="634689"/>
          </a:xfrm>
        </p:grpSpPr>
        <p:sp>
          <p:nvSpPr>
            <p:cNvPr name="Freeform 24" id="24"/>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25" id="25"/>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26" id="26"/>
          <p:cNvGrpSpPr/>
          <p:nvPr/>
        </p:nvGrpSpPr>
        <p:grpSpPr>
          <a:xfrm rot="0">
            <a:off x="1901030" y="7077066"/>
            <a:ext cx="3075708" cy="776477"/>
            <a:chOff x="0" y="0"/>
            <a:chExt cx="810063" cy="204504"/>
          </a:xfrm>
        </p:grpSpPr>
        <p:sp>
          <p:nvSpPr>
            <p:cNvPr name="Freeform 27" id="27"/>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28" id="28"/>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9" id="29"/>
          <p:cNvGrpSpPr/>
          <p:nvPr/>
        </p:nvGrpSpPr>
        <p:grpSpPr>
          <a:xfrm rot="0">
            <a:off x="4259572" y="7174707"/>
            <a:ext cx="581194" cy="58119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2" id="32"/>
          <p:cNvGrpSpPr/>
          <p:nvPr/>
        </p:nvGrpSpPr>
        <p:grpSpPr>
          <a:xfrm rot="0">
            <a:off x="7046759" y="6924666"/>
            <a:ext cx="3380381" cy="2409834"/>
            <a:chOff x="0" y="0"/>
            <a:chExt cx="890306" cy="634689"/>
          </a:xfrm>
        </p:grpSpPr>
        <p:sp>
          <p:nvSpPr>
            <p:cNvPr name="Freeform 33" id="33"/>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34" id="34"/>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35" id="35"/>
          <p:cNvGrpSpPr/>
          <p:nvPr/>
        </p:nvGrpSpPr>
        <p:grpSpPr>
          <a:xfrm rot="0">
            <a:off x="7199095" y="7077066"/>
            <a:ext cx="3075708" cy="776477"/>
            <a:chOff x="0" y="0"/>
            <a:chExt cx="810063" cy="204504"/>
          </a:xfrm>
        </p:grpSpPr>
        <p:sp>
          <p:nvSpPr>
            <p:cNvPr name="Freeform 36" id="36"/>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37" id="37"/>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38" id="38"/>
          <p:cNvGrpSpPr/>
          <p:nvPr/>
        </p:nvGrpSpPr>
        <p:grpSpPr>
          <a:xfrm rot="0">
            <a:off x="9557638" y="7174707"/>
            <a:ext cx="581194" cy="58119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41" id="41"/>
          <p:cNvGrpSpPr/>
          <p:nvPr/>
        </p:nvGrpSpPr>
        <p:grpSpPr>
          <a:xfrm rot="0">
            <a:off x="12344761" y="6924666"/>
            <a:ext cx="3380381" cy="2409834"/>
            <a:chOff x="0" y="0"/>
            <a:chExt cx="890306" cy="634689"/>
          </a:xfrm>
        </p:grpSpPr>
        <p:sp>
          <p:nvSpPr>
            <p:cNvPr name="Freeform 42" id="42"/>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43" id="43"/>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44" id="44"/>
          <p:cNvGrpSpPr/>
          <p:nvPr/>
        </p:nvGrpSpPr>
        <p:grpSpPr>
          <a:xfrm rot="0">
            <a:off x="12497161" y="7077066"/>
            <a:ext cx="3075708" cy="776477"/>
            <a:chOff x="0" y="0"/>
            <a:chExt cx="810063" cy="204504"/>
          </a:xfrm>
        </p:grpSpPr>
        <p:sp>
          <p:nvSpPr>
            <p:cNvPr name="Freeform 45" id="45"/>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46" id="46"/>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47" id="47"/>
          <p:cNvGrpSpPr/>
          <p:nvPr/>
        </p:nvGrpSpPr>
        <p:grpSpPr>
          <a:xfrm rot="0">
            <a:off x="14855704" y="7174707"/>
            <a:ext cx="581194" cy="58119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50" id="50"/>
          <p:cNvSpPr txBox="true"/>
          <p:nvPr/>
        </p:nvSpPr>
        <p:spPr>
          <a:xfrm rot="0">
            <a:off x="4441856" y="985798"/>
            <a:ext cx="1662550" cy="330201"/>
          </a:xfrm>
          <a:prstGeom prst="rect">
            <a:avLst/>
          </a:prstGeom>
        </p:spPr>
        <p:txBody>
          <a:bodyPr anchor="t" rtlCol="false" tIns="0" lIns="0" bIns="0" rIns="0">
            <a:spAutoFit/>
          </a:bodyPr>
          <a:lstStyle/>
          <a:p>
            <a:pPr algn="ctr" marL="0" indent="0" lvl="0">
              <a:lnSpc>
                <a:spcPts val="2799"/>
              </a:lnSpc>
              <a:spcBef>
                <a:spcPct val="0"/>
              </a:spcBef>
            </a:pPr>
            <a:r>
              <a:rPr lang="en-US" sz="1999" spc="3">
                <a:solidFill>
                  <a:srgbClr val="101B40"/>
                </a:solidFill>
                <a:latin typeface="Montserrat"/>
                <a:ea typeface="Montserrat"/>
                <a:cs typeface="Montserrat"/>
                <a:sym typeface="Montserrat"/>
              </a:rPr>
              <a:t>HOME</a:t>
            </a:r>
          </a:p>
        </p:txBody>
      </p:sp>
      <p:sp>
        <p:nvSpPr>
          <p:cNvPr name="TextBox 51" id="51"/>
          <p:cNvSpPr txBox="true"/>
          <p:nvPr/>
        </p:nvSpPr>
        <p:spPr>
          <a:xfrm rot="0">
            <a:off x="6747747" y="988011"/>
            <a:ext cx="1907082" cy="330201"/>
          </a:xfrm>
          <a:prstGeom prst="rect">
            <a:avLst/>
          </a:prstGeom>
        </p:spPr>
        <p:txBody>
          <a:bodyPr anchor="t" rtlCol="false" tIns="0" lIns="0" bIns="0" rIns="0">
            <a:spAutoFit/>
          </a:bodyPr>
          <a:lstStyle/>
          <a:p>
            <a:pPr algn="ctr" marL="0" indent="0" lvl="0">
              <a:lnSpc>
                <a:spcPts val="2799"/>
              </a:lnSpc>
              <a:spcBef>
                <a:spcPct val="0"/>
              </a:spcBef>
            </a:pPr>
            <a:r>
              <a:rPr lang="en-US" sz="1999" spc="3">
                <a:solidFill>
                  <a:srgbClr val="101B40"/>
                </a:solidFill>
                <a:latin typeface="Montserrat"/>
                <a:ea typeface="Montserrat"/>
                <a:cs typeface="Montserrat"/>
                <a:sym typeface="Montserrat"/>
              </a:rPr>
              <a:t>ABOUT</a:t>
            </a:r>
          </a:p>
        </p:txBody>
      </p:sp>
      <p:sp>
        <p:nvSpPr>
          <p:cNvPr name="TextBox 52" id="52"/>
          <p:cNvSpPr txBox="true"/>
          <p:nvPr/>
        </p:nvSpPr>
        <p:spPr>
          <a:xfrm rot="0">
            <a:off x="9499106" y="978486"/>
            <a:ext cx="1589190" cy="323215"/>
          </a:xfrm>
          <a:prstGeom prst="rect">
            <a:avLst/>
          </a:prstGeom>
        </p:spPr>
        <p:txBody>
          <a:bodyPr anchor="t" rtlCol="false" tIns="0" lIns="0" bIns="0" rIns="0">
            <a:spAutoFit/>
          </a:bodyPr>
          <a:lstStyle/>
          <a:p>
            <a:pPr algn="ctr" marL="0" indent="0" lvl="0">
              <a:lnSpc>
                <a:spcPts val="2659"/>
              </a:lnSpc>
              <a:spcBef>
                <a:spcPct val="0"/>
              </a:spcBef>
            </a:pPr>
            <a:r>
              <a:rPr lang="en-US" b="true" sz="1899" spc="3">
                <a:solidFill>
                  <a:srgbClr val="F4F4F4"/>
                </a:solidFill>
                <a:latin typeface="Montserrat Bold"/>
                <a:ea typeface="Montserrat Bold"/>
                <a:cs typeface="Montserrat Bold"/>
                <a:sym typeface="Montserrat Bold"/>
              </a:rPr>
              <a:t>CONTENT</a:t>
            </a:r>
          </a:p>
        </p:txBody>
      </p:sp>
      <p:sp>
        <p:nvSpPr>
          <p:cNvPr name="TextBox 53" id="53"/>
          <p:cNvSpPr txBox="true"/>
          <p:nvPr/>
        </p:nvSpPr>
        <p:spPr>
          <a:xfrm rot="0">
            <a:off x="11594836" y="976273"/>
            <a:ext cx="2224975" cy="323215"/>
          </a:xfrm>
          <a:prstGeom prst="rect">
            <a:avLst/>
          </a:prstGeom>
        </p:spPr>
        <p:txBody>
          <a:bodyPr anchor="t" rtlCol="false" tIns="0" lIns="0" bIns="0" rIns="0">
            <a:spAutoFit/>
          </a:bodyPr>
          <a:lstStyle/>
          <a:p>
            <a:pPr algn="ctr" marL="0" indent="0" lvl="0">
              <a:lnSpc>
                <a:spcPts val="2659"/>
              </a:lnSpc>
              <a:spcBef>
                <a:spcPct val="0"/>
              </a:spcBef>
            </a:pPr>
            <a:r>
              <a:rPr lang="en-US" sz="1899" spc="3">
                <a:solidFill>
                  <a:srgbClr val="101B40"/>
                </a:solidFill>
                <a:latin typeface="Montserrat"/>
                <a:ea typeface="Montserrat"/>
                <a:cs typeface="Montserrat"/>
                <a:sym typeface="Montserrat"/>
              </a:rPr>
              <a:t>OTHERS</a:t>
            </a:r>
          </a:p>
        </p:txBody>
      </p:sp>
      <p:sp>
        <p:nvSpPr>
          <p:cNvPr name="TextBox 54" id="54"/>
          <p:cNvSpPr txBox="true"/>
          <p:nvPr/>
        </p:nvSpPr>
        <p:spPr>
          <a:xfrm rot="0">
            <a:off x="804572" y="864967"/>
            <a:ext cx="1888114" cy="550832"/>
          </a:xfrm>
          <a:prstGeom prst="rect">
            <a:avLst/>
          </a:prstGeom>
        </p:spPr>
        <p:txBody>
          <a:bodyPr anchor="t" rtlCol="false" tIns="0" lIns="0" bIns="0" rIns="0">
            <a:spAutoFit/>
          </a:bodyPr>
          <a:lstStyle/>
          <a:p>
            <a:pPr algn="l" marL="0" indent="0" lvl="0">
              <a:lnSpc>
                <a:spcPts val="2103"/>
              </a:lnSpc>
            </a:pPr>
            <a:r>
              <a:rPr lang="en-US" b="true" sz="1929" spc="3">
                <a:solidFill>
                  <a:srgbClr val="101B40"/>
                </a:solidFill>
                <a:latin typeface="Montserrat Bold"/>
                <a:ea typeface="Montserrat Bold"/>
                <a:cs typeface="Montserrat Bold"/>
                <a:sym typeface="Montserrat Bold"/>
              </a:rPr>
              <a:t>THINK UNLIMITED.</a:t>
            </a:r>
          </a:p>
        </p:txBody>
      </p:sp>
      <p:sp>
        <p:nvSpPr>
          <p:cNvPr name="TextBox 55" id="55"/>
          <p:cNvSpPr txBox="true"/>
          <p:nvPr/>
        </p:nvSpPr>
        <p:spPr>
          <a:xfrm rot="0">
            <a:off x="7870766" y="4845015"/>
            <a:ext cx="8229559" cy="1521022"/>
          </a:xfrm>
          <a:prstGeom prst="rect">
            <a:avLst/>
          </a:prstGeom>
        </p:spPr>
        <p:txBody>
          <a:bodyPr anchor="t" rtlCol="false" tIns="0" lIns="0" bIns="0" rIns="0">
            <a:spAutoFit/>
          </a:bodyPr>
          <a:lstStyle/>
          <a:p>
            <a:pPr algn="just" marL="0" indent="0" lvl="0">
              <a:lnSpc>
                <a:spcPts val="3051"/>
              </a:lnSpc>
            </a:pPr>
            <a:r>
              <a:rPr lang="en-US" sz="2461" spc="-157">
                <a:solidFill>
                  <a:srgbClr val="000000"/>
                </a:solidFill>
                <a:latin typeface="Montserrat"/>
                <a:ea typeface="Montserrat"/>
                <a:cs typeface="Montserrat"/>
                <a:sym typeface="Montserrat"/>
              </a:rPr>
              <a:t>Theo dõi cùng một khu vực theo thời gian và mô phỏng các kịch bản tương lai. Hệ thống tái hiện 6 trạng thái không gian – từ hiện tại đến mục tiêu – trên nền GIS tỉnh Gia Lai. (Simulation/Demo Data)</a:t>
            </a:r>
          </a:p>
        </p:txBody>
      </p:sp>
      <p:sp>
        <p:nvSpPr>
          <p:cNvPr name="TextBox 56" id="56"/>
          <p:cNvSpPr txBox="true"/>
          <p:nvPr/>
        </p:nvSpPr>
        <p:spPr>
          <a:xfrm rot="0">
            <a:off x="7870766" y="2487044"/>
            <a:ext cx="9164670" cy="546462"/>
          </a:xfrm>
          <a:prstGeom prst="rect">
            <a:avLst/>
          </a:prstGeom>
        </p:spPr>
        <p:txBody>
          <a:bodyPr anchor="t" rtlCol="false" tIns="0" lIns="0" bIns="0" rIns="0">
            <a:spAutoFit/>
          </a:bodyPr>
          <a:lstStyle/>
          <a:p>
            <a:pPr algn="just" marL="0" indent="0" lvl="0">
              <a:lnSpc>
                <a:spcPts val="4431"/>
              </a:lnSpc>
              <a:spcBef>
                <a:spcPct val="0"/>
              </a:spcBef>
            </a:pPr>
            <a:r>
              <a:rPr lang="en-US" sz="3165" spc="-183">
                <a:solidFill>
                  <a:srgbClr val="101B40"/>
                </a:solidFill>
                <a:latin typeface="Montserrat"/>
                <a:ea typeface="Montserrat"/>
                <a:cs typeface="Montserrat"/>
                <a:sym typeface="Montserrat"/>
              </a:rPr>
              <a:t>Digital Twin – Gia Lai</a:t>
            </a:r>
          </a:p>
        </p:txBody>
      </p:sp>
      <p:sp>
        <p:nvSpPr>
          <p:cNvPr name="TextBox 57" id="57"/>
          <p:cNvSpPr txBox="true"/>
          <p:nvPr/>
        </p:nvSpPr>
        <p:spPr>
          <a:xfrm rot="0">
            <a:off x="7888845" y="3430001"/>
            <a:ext cx="9164670" cy="905463"/>
          </a:xfrm>
          <a:prstGeom prst="rect">
            <a:avLst/>
          </a:prstGeom>
        </p:spPr>
        <p:txBody>
          <a:bodyPr anchor="t" rtlCol="false" tIns="0" lIns="0" bIns="0" rIns="0">
            <a:spAutoFit/>
          </a:bodyPr>
          <a:lstStyle/>
          <a:p>
            <a:pPr algn="just" marL="0" indent="0" lvl="0">
              <a:lnSpc>
                <a:spcPts val="3470"/>
              </a:lnSpc>
            </a:pPr>
            <a:r>
              <a:rPr lang="en-US" b="true" sz="3856" spc="-223">
                <a:solidFill>
                  <a:srgbClr val="101B40"/>
                </a:solidFill>
                <a:latin typeface="Montserrat Bold"/>
                <a:ea typeface="Montserrat Bold"/>
                <a:cs typeface="Montserrat Bold"/>
                <a:sym typeface="Montserrat Bold"/>
              </a:rPr>
              <a:t>Theo Dõi Không Gian &amp; Mô Phỏng Kịch Bản</a:t>
            </a:r>
          </a:p>
        </p:txBody>
      </p:sp>
      <p:sp>
        <p:nvSpPr>
          <p:cNvPr name="TextBox 58" id="58"/>
          <p:cNvSpPr txBox="true"/>
          <p:nvPr/>
        </p:nvSpPr>
        <p:spPr>
          <a:xfrm rot="0">
            <a:off x="2129719" y="8203220"/>
            <a:ext cx="2618330" cy="781393"/>
          </a:xfrm>
          <a:prstGeom prst="rect">
            <a:avLst/>
          </a:prstGeom>
        </p:spPr>
        <p:txBody>
          <a:bodyPr anchor="t" rtlCol="false" tIns="0" lIns="0" bIns="0" rIns="0">
            <a:spAutoFit/>
          </a:bodyPr>
          <a:lstStyle/>
          <a:p>
            <a:pPr algn="ctr" marL="0" indent="0" lvl="0">
              <a:lnSpc>
                <a:spcPts val="2051"/>
              </a:lnSpc>
            </a:pPr>
            <a:r>
              <a:rPr lang="en-US" b="true" sz="1899" spc="-134">
                <a:solidFill>
                  <a:srgbClr val="F4F4F4"/>
                </a:solidFill>
                <a:latin typeface="Montserrat Semi-Bold"/>
                <a:ea typeface="Montserrat Semi-Bold"/>
                <a:cs typeface="Montserrat Semi-Bold"/>
                <a:sym typeface="Montserrat Semi-Bold"/>
              </a:rPr>
              <a:t>HIỆN TRẠNG &amp; LỊCH SỬ BIẾN ĐỘNG MÔI TRƯỜNG</a:t>
            </a:r>
          </a:p>
        </p:txBody>
      </p:sp>
      <p:sp>
        <p:nvSpPr>
          <p:cNvPr name="TextBox 59" id="59"/>
          <p:cNvSpPr txBox="true"/>
          <p:nvPr/>
        </p:nvSpPr>
        <p:spPr>
          <a:xfrm rot="0">
            <a:off x="1996729" y="7298319"/>
            <a:ext cx="2243794" cy="267068"/>
          </a:xfrm>
          <a:prstGeom prst="rect">
            <a:avLst/>
          </a:prstGeom>
        </p:spPr>
        <p:txBody>
          <a:bodyPr anchor="t" rtlCol="false" tIns="0" lIns="0" bIns="0" rIns="0">
            <a:spAutoFit/>
          </a:bodyPr>
          <a:lstStyle/>
          <a:p>
            <a:pPr algn="ctr" marL="0" indent="0" lvl="0">
              <a:lnSpc>
                <a:spcPts val="2051"/>
              </a:lnSpc>
            </a:pPr>
            <a:r>
              <a:rPr lang="en-US" b="true" sz="1899" spc="-134">
                <a:solidFill>
                  <a:srgbClr val="8FA4C1"/>
                </a:solidFill>
                <a:latin typeface="Montserrat Bold"/>
                <a:ea typeface="Montserrat Bold"/>
                <a:cs typeface="Montserrat Bold"/>
                <a:sym typeface="Montserrat Bold"/>
              </a:rPr>
              <a:t>Hiện tại &amp; Lịch sử</a:t>
            </a:r>
          </a:p>
        </p:txBody>
      </p:sp>
      <p:sp>
        <p:nvSpPr>
          <p:cNvPr name="TextBox 60" id="60"/>
          <p:cNvSpPr txBox="true"/>
          <p:nvPr/>
        </p:nvSpPr>
        <p:spPr>
          <a:xfrm rot="0">
            <a:off x="7701289" y="8174645"/>
            <a:ext cx="2071321" cy="802005"/>
          </a:xfrm>
          <a:prstGeom prst="rect">
            <a:avLst/>
          </a:prstGeom>
        </p:spPr>
        <p:txBody>
          <a:bodyPr anchor="t" rtlCol="false" tIns="0" lIns="0" bIns="0" rIns="0">
            <a:spAutoFit/>
          </a:bodyPr>
          <a:lstStyle/>
          <a:p>
            <a:pPr algn="ctr" marL="0" indent="0" lvl="0">
              <a:lnSpc>
                <a:spcPts val="2159"/>
              </a:lnSpc>
            </a:pPr>
            <a:r>
              <a:rPr lang="en-US" b="true" sz="1999" spc="-141">
                <a:solidFill>
                  <a:srgbClr val="F4F4F4"/>
                </a:solidFill>
                <a:latin typeface="Montserrat Semi-Bold"/>
                <a:ea typeface="Montserrat Semi-Bold"/>
                <a:cs typeface="Montserrat Semi-Bold"/>
                <a:sym typeface="Montserrat Semi-Bold"/>
              </a:rPr>
              <a:t>DỰ BÁO TƯƠNG LAI &amp; MÔ PHỎNG KỊCH BẢN RỦI RO</a:t>
            </a:r>
          </a:p>
        </p:txBody>
      </p:sp>
      <p:sp>
        <p:nvSpPr>
          <p:cNvPr name="TextBox 61" id="61"/>
          <p:cNvSpPr txBox="true"/>
          <p:nvPr/>
        </p:nvSpPr>
        <p:spPr>
          <a:xfrm rot="0">
            <a:off x="12970025" y="8148633"/>
            <a:ext cx="2129854" cy="781393"/>
          </a:xfrm>
          <a:prstGeom prst="rect">
            <a:avLst/>
          </a:prstGeom>
        </p:spPr>
        <p:txBody>
          <a:bodyPr anchor="t" rtlCol="false" tIns="0" lIns="0" bIns="0" rIns="0">
            <a:spAutoFit/>
          </a:bodyPr>
          <a:lstStyle/>
          <a:p>
            <a:pPr algn="ctr" marL="0" indent="0" lvl="0">
              <a:lnSpc>
                <a:spcPts val="2051"/>
              </a:lnSpc>
            </a:pPr>
            <a:r>
              <a:rPr lang="en-US" b="true" sz="1899" spc="-134">
                <a:solidFill>
                  <a:srgbClr val="F4F4F4"/>
                </a:solidFill>
                <a:latin typeface="Montserrat Semi-Bold"/>
                <a:ea typeface="Montserrat Semi-Bold"/>
                <a:cs typeface="Montserrat Semi-Bold"/>
                <a:sym typeface="Montserrat Semi-Bold"/>
              </a:rPr>
              <a:t>SO SÁNH MỤC TIÊU VÀ THỰC TẾ TRIỂN KHAI</a:t>
            </a:r>
          </a:p>
        </p:txBody>
      </p:sp>
      <p:sp>
        <p:nvSpPr>
          <p:cNvPr name="TextBox 62" id="62"/>
          <p:cNvSpPr txBox="true"/>
          <p:nvPr/>
        </p:nvSpPr>
        <p:spPr>
          <a:xfrm rot="0">
            <a:off x="7361290" y="7184232"/>
            <a:ext cx="2243794" cy="553698"/>
          </a:xfrm>
          <a:prstGeom prst="rect">
            <a:avLst/>
          </a:prstGeom>
        </p:spPr>
        <p:txBody>
          <a:bodyPr anchor="t" rtlCol="false" tIns="0" lIns="0" bIns="0" rIns="0">
            <a:spAutoFit/>
          </a:bodyPr>
          <a:lstStyle/>
          <a:p>
            <a:pPr algn="ctr" marL="0" indent="0" lvl="0">
              <a:lnSpc>
                <a:spcPts val="2113"/>
              </a:lnSpc>
            </a:pPr>
            <a:r>
              <a:rPr lang="en-US" b="true" sz="1956" spc="-138">
                <a:solidFill>
                  <a:srgbClr val="8FA4C1"/>
                </a:solidFill>
                <a:latin typeface="Montserrat Bold"/>
                <a:ea typeface="Montserrat Bold"/>
                <a:cs typeface="Montserrat Bold"/>
                <a:sym typeface="Montserrat Bold"/>
              </a:rPr>
              <a:t>Dự báo &amp; Mô phỏng</a:t>
            </a:r>
          </a:p>
        </p:txBody>
      </p:sp>
      <p:sp>
        <p:nvSpPr>
          <p:cNvPr name="TextBox 63" id="63"/>
          <p:cNvSpPr txBox="true"/>
          <p:nvPr/>
        </p:nvSpPr>
        <p:spPr>
          <a:xfrm rot="0">
            <a:off x="12725850" y="7332430"/>
            <a:ext cx="2243794" cy="267068"/>
          </a:xfrm>
          <a:prstGeom prst="rect">
            <a:avLst/>
          </a:prstGeom>
        </p:spPr>
        <p:txBody>
          <a:bodyPr anchor="t" rtlCol="false" tIns="0" lIns="0" bIns="0" rIns="0">
            <a:spAutoFit/>
          </a:bodyPr>
          <a:lstStyle/>
          <a:p>
            <a:pPr algn="ctr" marL="0" indent="0" lvl="0">
              <a:lnSpc>
                <a:spcPts val="2051"/>
              </a:lnSpc>
            </a:pPr>
            <a:r>
              <a:rPr lang="en-US" b="true" sz="1899" spc="-134">
                <a:solidFill>
                  <a:srgbClr val="8FA4C1"/>
                </a:solidFill>
                <a:latin typeface="Montserrat Bold"/>
                <a:ea typeface="Montserrat Bold"/>
                <a:cs typeface="Montserrat Bold"/>
                <a:sym typeface="Montserrat Bold"/>
              </a:rPr>
              <a:t>Mục tiêu / Thực tế</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460786" y="628301"/>
            <a:ext cx="1665830" cy="588932"/>
            <a:chOff x="0" y="0"/>
            <a:chExt cx="438737" cy="155110"/>
          </a:xfrm>
        </p:grpSpPr>
        <p:sp>
          <p:nvSpPr>
            <p:cNvPr name="Freeform 6" id="6"/>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38737" cy="193210"/>
            </a:xfrm>
            <a:prstGeom prst="rect">
              <a:avLst/>
            </a:prstGeom>
          </p:spPr>
          <p:txBody>
            <a:bodyPr anchor="ctr" rtlCol="false" tIns="50800" lIns="50800" bIns="50800" rIns="50800"/>
            <a:lstStyle/>
            <a:p>
              <a:pPr algn="ctr" marL="0" indent="0" lvl="0">
                <a:lnSpc>
                  <a:spcPts val="2800"/>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9" id="9"/>
          <p:cNvGrpSpPr/>
          <p:nvPr/>
        </p:nvGrpSpPr>
        <p:grpSpPr>
          <a:xfrm rot="0">
            <a:off x="-321703" y="0"/>
            <a:ext cx="4264059" cy="10287000"/>
            <a:chOff x="0" y="0"/>
            <a:chExt cx="1123044" cy="2709333"/>
          </a:xfrm>
        </p:grpSpPr>
        <p:sp>
          <p:nvSpPr>
            <p:cNvPr name="Freeform 10" id="10"/>
            <p:cNvSpPr/>
            <p:nvPr/>
          </p:nvSpPr>
          <p:spPr>
            <a:xfrm flipH="false" flipV="false" rot="0">
              <a:off x="0" y="0"/>
              <a:ext cx="1123044" cy="2709333"/>
            </a:xfrm>
            <a:custGeom>
              <a:avLst/>
              <a:gdLst/>
              <a:ahLst/>
              <a:cxnLst/>
              <a:rect r="r" b="b" t="t" l="l"/>
              <a:pathLst>
                <a:path h="2709333" w="1123044">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a:srgbClr val="DCE2EB"/>
            </a:solidFill>
          </p:spPr>
        </p:sp>
        <p:sp>
          <p:nvSpPr>
            <p:cNvPr name="TextBox 11" id="11"/>
            <p:cNvSpPr txBox="true"/>
            <p:nvPr/>
          </p:nvSpPr>
          <p:spPr>
            <a:xfrm>
              <a:off x="0" y="-38100"/>
              <a:ext cx="1123044" cy="2747433"/>
            </a:xfrm>
            <a:prstGeom prst="rect">
              <a:avLst/>
            </a:prstGeom>
          </p:spPr>
          <p:txBody>
            <a:bodyPr anchor="ctr" rtlCol="false" tIns="50800" lIns="50800" bIns="50800" rIns="50800"/>
            <a:lstStyle/>
            <a:p>
              <a:pPr algn="ctr" marL="0" indent="0" lvl="0">
                <a:lnSpc>
                  <a:spcPts val="2591"/>
                </a:lnSpc>
              </a:pPr>
            </a:p>
          </p:txBody>
        </p:sp>
      </p:grpSp>
      <p:grpSp>
        <p:nvGrpSpPr>
          <p:cNvPr name="Group 12" id="12"/>
          <p:cNvGrpSpPr/>
          <p:nvPr/>
        </p:nvGrpSpPr>
        <p:grpSpPr>
          <a:xfrm rot="0">
            <a:off x="1398523" y="2161933"/>
            <a:ext cx="6968279" cy="6812433"/>
            <a:chOff x="0" y="0"/>
            <a:chExt cx="1079569" cy="1055424"/>
          </a:xfrm>
        </p:grpSpPr>
        <p:sp>
          <p:nvSpPr>
            <p:cNvPr name="Freeform 13" id="13"/>
            <p:cNvSpPr/>
            <p:nvPr/>
          </p:nvSpPr>
          <p:spPr>
            <a:xfrm flipH="false" flipV="false" rot="0">
              <a:off x="0" y="0"/>
              <a:ext cx="1079569" cy="1055424"/>
            </a:xfrm>
            <a:custGeom>
              <a:avLst/>
              <a:gdLst/>
              <a:ahLst/>
              <a:cxnLst/>
              <a:rect r="r" b="b" t="t" l="l"/>
              <a:pathLst>
                <a:path h="1055424" w="1079569">
                  <a:moveTo>
                    <a:pt x="35553" y="0"/>
                  </a:moveTo>
                  <a:lnTo>
                    <a:pt x="1044016" y="0"/>
                  </a:lnTo>
                  <a:cubicBezTo>
                    <a:pt x="1063651" y="0"/>
                    <a:pt x="1079569" y="15918"/>
                    <a:pt x="1079569" y="35553"/>
                  </a:cubicBezTo>
                  <a:lnTo>
                    <a:pt x="1079569" y="1019871"/>
                  </a:lnTo>
                  <a:cubicBezTo>
                    <a:pt x="1079569" y="1029301"/>
                    <a:pt x="1075823" y="1038344"/>
                    <a:pt x="1069156" y="1045011"/>
                  </a:cubicBezTo>
                  <a:cubicBezTo>
                    <a:pt x="1062488" y="1051678"/>
                    <a:pt x="1053445" y="1055424"/>
                    <a:pt x="1044016" y="1055424"/>
                  </a:cubicBezTo>
                  <a:lnTo>
                    <a:pt x="35553" y="1055424"/>
                  </a:lnTo>
                  <a:cubicBezTo>
                    <a:pt x="15918" y="1055424"/>
                    <a:pt x="0" y="1039507"/>
                    <a:pt x="0" y="1019871"/>
                  </a:cubicBezTo>
                  <a:lnTo>
                    <a:pt x="0" y="35553"/>
                  </a:lnTo>
                  <a:cubicBezTo>
                    <a:pt x="0" y="15918"/>
                    <a:pt x="15918" y="0"/>
                    <a:pt x="35553" y="0"/>
                  </a:cubicBezTo>
                  <a:close/>
                </a:path>
              </a:pathLst>
            </a:custGeom>
            <a:blipFill>
              <a:blip r:embed="rId4"/>
              <a:stretch>
                <a:fillRect l="0" t="-312" r="0" b="-312"/>
              </a:stretch>
            </a:blipFill>
          </p:spPr>
        </p:sp>
      </p:grpSp>
      <p:grpSp>
        <p:nvGrpSpPr>
          <p:cNvPr name="Group 14" id="14"/>
          <p:cNvGrpSpPr/>
          <p:nvPr/>
        </p:nvGrpSpPr>
        <p:grpSpPr>
          <a:xfrm rot="0">
            <a:off x="6829803" y="1927533"/>
            <a:ext cx="1822999" cy="182299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7" id="17"/>
          <p:cNvGrpSpPr/>
          <p:nvPr/>
        </p:nvGrpSpPr>
        <p:grpSpPr>
          <a:xfrm rot="0">
            <a:off x="7400238" y="2497968"/>
            <a:ext cx="682130" cy="68213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Freeform 20" id="20"/>
          <p:cNvSpPr/>
          <p:nvPr/>
        </p:nvSpPr>
        <p:spPr>
          <a:xfrm flipH="false" flipV="false" rot="0">
            <a:off x="15887644" y="7886644"/>
            <a:ext cx="1371656" cy="1371656"/>
          </a:xfrm>
          <a:custGeom>
            <a:avLst/>
            <a:gdLst/>
            <a:ahLst/>
            <a:cxnLst/>
            <a:rect r="r" b="b" t="t" l="l"/>
            <a:pathLst>
              <a:path h="1371656" w="1371656">
                <a:moveTo>
                  <a:pt x="0" y="0"/>
                </a:moveTo>
                <a:lnTo>
                  <a:pt x="1371656" y="0"/>
                </a:lnTo>
                <a:lnTo>
                  <a:pt x="1371656" y="1371656"/>
                </a:lnTo>
                <a:lnTo>
                  <a:pt x="0" y="13716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4441856" y="729745"/>
            <a:ext cx="1662550" cy="339712"/>
          </a:xfrm>
          <a:prstGeom prst="rect">
            <a:avLst/>
          </a:prstGeom>
        </p:spPr>
        <p:txBody>
          <a:bodyPr anchor="t" rtlCol="false" tIns="0" lIns="0" bIns="0" rIns="0">
            <a:spAutoFit/>
          </a:bodyPr>
          <a:lstStyle/>
          <a:p>
            <a:pPr algn="ctr" marL="0" indent="0" lvl="0">
              <a:lnSpc>
                <a:spcPts val="2800"/>
              </a:lnSpc>
              <a:spcBef>
                <a:spcPct val="0"/>
              </a:spcBef>
            </a:pPr>
            <a:r>
              <a:rPr lang="en-US" sz="2000" spc="4">
                <a:solidFill>
                  <a:srgbClr val="101B40"/>
                </a:solidFill>
                <a:latin typeface="Montserrat"/>
                <a:ea typeface="Montserrat"/>
                <a:cs typeface="Montserrat"/>
                <a:sym typeface="Montserrat"/>
              </a:rPr>
              <a:t>HOME</a:t>
            </a:r>
          </a:p>
        </p:txBody>
      </p:sp>
      <p:sp>
        <p:nvSpPr>
          <p:cNvPr name="TextBox 22" id="22"/>
          <p:cNvSpPr txBox="true"/>
          <p:nvPr/>
        </p:nvSpPr>
        <p:spPr>
          <a:xfrm rot="0">
            <a:off x="6829803" y="731958"/>
            <a:ext cx="1907082" cy="339712"/>
          </a:xfrm>
          <a:prstGeom prst="rect">
            <a:avLst/>
          </a:prstGeom>
        </p:spPr>
        <p:txBody>
          <a:bodyPr anchor="t" rtlCol="false" tIns="0" lIns="0" bIns="0" rIns="0">
            <a:spAutoFit/>
          </a:bodyPr>
          <a:lstStyle/>
          <a:p>
            <a:pPr algn="ctr" marL="0" indent="0" lvl="0">
              <a:lnSpc>
                <a:spcPts val="2800"/>
              </a:lnSpc>
              <a:spcBef>
                <a:spcPct val="0"/>
              </a:spcBef>
            </a:pPr>
            <a:r>
              <a:rPr lang="en-US" sz="2000" spc="4">
                <a:solidFill>
                  <a:srgbClr val="101B40"/>
                </a:solidFill>
                <a:latin typeface="Montserrat"/>
                <a:ea typeface="Montserrat"/>
                <a:cs typeface="Montserrat"/>
                <a:sym typeface="Montserrat"/>
              </a:rPr>
              <a:t>ABOUT</a:t>
            </a:r>
          </a:p>
        </p:txBody>
      </p:sp>
      <p:sp>
        <p:nvSpPr>
          <p:cNvPr name="TextBox 23" id="23"/>
          <p:cNvSpPr txBox="true"/>
          <p:nvPr/>
        </p:nvSpPr>
        <p:spPr>
          <a:xfrm rot="0">
            <a:off x="9499106" y="731958"/>
            <a:ext cx="1589190" cy="306718"/>
          </a:xfrm>
          <a:prstGeom prst="rect">
            <a:avLst/>
          </a:prstGeom>
        </p:spPr>
        <p:txBody>
          <a:bodyPr anchor="t" rtlCol="false" tIns="0" lIns="0" bIns="0" rIns="0">
            <a:spAutoFit/>
          </a:bodyPr>
          <a:lstStyle/>
          <a:p>
            <a:pPr algn="ctr" marL="0" indent="0" lvl="0">
              <a:lnSpc>
                <a:spcPts val="2520"/>
              </a:lnSpc>
              <a:spcBef>
                <a:spcPct val="0"/>
              </a:spcBef>
            </a:pPr>
            <a:r>
              <a:rPr lang="en-US" b="true" sz="1800" spc="3">
                <a:solidFill>
                  <a:srgbClr val="F4F4F4"/>
                </a:solidFill>
                <a:latin typeface="Montserrat Bold"/>
                <a:ea typeface="Montserrat Bold"/>
                <a:cs typeface="Montserrat Bold"/>
                <a:sym typeface="Montserrat Bold"/>
              </a:rPr>
              <a:t>CONTENT</a:t>
            </a:r>
          </a:p>
        </p:txBody>
      </p:sp>
      <p:sp>
        <p:nvSpPr>
          <p:cNvPr name="TextBox 24" id="24"/>
          <p:cNvSpPr txBox="true"/>
          <p:nvPr/>
        </p:nvSpPr>
        <p:spPr>
          <a:xfrm rot="0">
            <a:off x="11594836" y="729745"/>
            <a:ext cx="2224975" cy="339712"/>
          </a:xfrm>
          <a:prstGeom prst="rect">
            <a:avLst/>
          </a:prstGeom>
        </p:spPr>
        <p:txBody>
          <a:bodyPr anchor="t" rtlCol="false" tIns="0" lIns="0" bIns="0" rIns="0">
            <a:spAutoFit/>
          </a:bodyPr>
          <a:lstStyle/>
          <a:p>
            <a:pPr algn="ctr" marL="0" indent="0" lvl="0">
              <a:lnSpc>
                <a:spcPts val="2800"/>
              </a:lnSpc>
              <a:spcBef>
                <a:spcPct val="0"/>
              </a:spcBef>
            </a:pPr>
            <a:r>
              <a:rPr lang="en-US" sz="2000" spc="4">
                <a:solidFill>
                  <a:srgbClr val="101B40"/>
                </a:solidFill>
                <a:latin typeface="Montserrat"/>
                <a:ea typeface="Montserrat"/>
                <a:cs typeface="Montserrat"/>
                <a:sym typeface="Montserrat"/>
              </a:rPr>
              <a:t>OTHERS</a:t>
            </a:r>
          </a:p>
        </p:txBody>
      </p:sp>
      <p:sp>
        <p:nvSpPr>
          <p:cNvPr name="TextBox 25" id="25"/>
          <p:cNvSpPr txBox="true"/>
          <p:nvPr/>
        </p:nvSpPr>
        <p:spPr>
          <a:xfrm rot="0">
            <a:off x="866269" y="647351"/>
            <a:ext cx="1888114" cy="581313"/>
          </a:xfrm>
          <a:prstGeom prst="rect">
            <a:avLst/>
          </a:prstGeom>
        </p:spPr>
        <p:txBody>
          <a:bodyPr anchor="t" rtlCol="false" tIns="0" lIns="0" bIns="0" rIns="0">
            <a:spAutoFit/>
          </a:bodyPr>
          <a:lstStyle/>
          <a:p>
            <a:pPr algn="l" marL="0" indent="0" lvl="0">
              <a:lnSpc>
                <a:spcPts val="2251"/>
              </a:lnSpc>
            </a:pPr>
            <a:r>
              <a:rPr lang="en-US" b="true" sz="2066" spc="4">
                <a:solidFill>
                  <a:srgbClr val="101B40"/>
                </a:solidFill>
                <a:latin typeface="Montserrat Bold"/>
                <a:ea typeface="Montserrat Bold"/>
                <a:cs typeface="Montserrat Bold"/>
                <a:sym typeface="Montserrat Bold"/>
              </a:rPr>
              <a:t>THYNK UNLIMITED.</a:t>
            </a:r>
          </a:p>
        </p:txBody>
      </p:sp>
      <p:sp>
        <p:nvSpPr>
          <p:cNvPr name="TextBox 26" id="26"/>
          <p:cNvSpPr txBox="true"/>
          <p:nvPr/>
        </p:nvSpPr>
        <p:spPr>
          <a:xfrm rot="0">
            <a:off x="9549720" y="2679701"/>
            <a:ext cx="7448140" cy="604215"/>
          </a:xfrm>
          <a:prstGeom prst="rect">
            <a:avLst/>
          </a:prstGeom>
        </p:spPr>
        <p:txBody>
          <a:bodyPr anchor="t" rtlCol="false" tIns="0" lIns="0" bIns="0" rIns="0">
            <a:spAutoFit/>
          </a:bodyPr>
          <a:lstStyle/>
          <a:p>
            <a:pPr algn="just" marL="0" indent="0" lvl="0">
              <a:lnSpc>
                <a:spcPts val="5021"/>
              </a:lnSpc>
              <a:spcBef>
                <a:spcPct val="0"/>
              </a:spcBef>
            </a:pPr>
            <a:r>
              <a:rPr lang="en-US" sz="3587" spc="-208">
                <a:solidFill>
                  <a:srgbClr val="101B40"/>
                </a:solidFill>
                <a:latin typeface="Montserrat"/>
                <a:ea typeface="Montserrat"/>
                <a:cs typeface="Montserrat"/>
                <a:sym typeface="Montserrat"/>
              </a:rPr>
              <a:t>AI Spatial</a:t>
            </a:r>
          </a:p>
        </p:txBody>
      </p:sp>
      <p:sp>
        <p:nvSpPr>
          <p:cNvPr name="TextBox 27" id="27"/>
          <p:cNvSpPr txBox="true"/>
          <p:nvPr/>
        </p:nvSpPr>
        <p:spPr>
          <a:xfrm rot="0">
            <a:off x="9336687" y="3725617"/>
            <a:ext cx="6741273" cy="648334"/>
          </a:xfrm>
          <a:prstGeom prst="rect">
            <a:avLst/>
          </a:prstGeom>
        </p:spPr>
        <p:txBody>
          <a:bodyPr anchor="t" rtlCol="false" tIns="0" lIns="0" bIns="0" rIns="0">
            <a:spAutoFit/>
          </a:bodyPr>
          <a:lstStyle/>
          <a:p>
            <a:pPr algn="just" marL="0" indent="0" lvl="0">
              <a:lnSpc>
                <a:spcPts val="4739"/>
              </a:lnSpc>
            </a:pPr>
            <a:r>
              <a:rPr lang="en-US" b="true" sz="5266" spc="-305">
                <a:solidFill>
                  <a:srgbClr val="101B40"/>
                </a:solidFill>
                <a:latin typeface="Montserrat Bold"/>
                <a:ea typeface="Montserrat Bold"/>
                <a:cs typeface="Montserrat Bold"/>
                <a:sym typeface="Montserrat Bold"/>
              </a:rPr>
              <a:t> Trí tuệ</a:t>
            </a:r>
          </a:p>
        </p:txBody>
      </p:sp>
      <p:sp>
        <p:nvSpPr>
          <p:cNvPr name="TextBox 28" id="28"/>
          <p:cNvSpPr txBox="true"/>
          <p:nvPr/>
        </p:nvSpPr>
        <p:spPr>
          <a:xfrm rot="0">
            <a:off x="9460786" y="5376215"/>
            <a:ext cx="6337924" cy="2510429"/>
          </a:xfrm>
          <a:prstGeom prst="rect">
            <a:avLst/>
          </a:prstGeom>
        </p:spPr>
        <p:txBody>
          <a:bodyPr anchor="t" rtlCol="false" tIns="0" lIns="0" bIns="0" rIns="0">
            <a:spAutoFit/>
          </a:bodyPr>
          <a:lstStyle/>
          <a:p>
            <a:pPr algn="just" marL="0" indent="0" lvl="0">
              <a:lnSpc>
                <a:spcPts val="3343"/>
              </a:lnSpc>
            </a:pPr>
            <a:r>
              <a:rPr lang="en-US" sz="2696" spc="-172">
                <a:solidFill>
                  <a:srgbClr val="000000"/>
                </a:solidFill>
                <a:latin typeface="Montserrat"/>
                <a:ea typeface="Montserrat"/>
                <a:cs typeface="Montserrat"/>
                <a:sym typeface="Montserrat"/>
              </a:rPr>
              <a:t>Hệ thống phân tích quan hệ không gian giữa các đối tượng địa lý: vùng chồng lấn, khoảng cách nguy hiểm, và tương tác môi trường. AI suy luận vượt ra ngoài nhận diện đối tượng đơn thuần để hiểu toàn bộ bối cảnh không gian.</a:t>
            </a:r>
          </a:p>
        </p:txBody>
      </p:sp>
      <p:sp>
        <p:nvSpPr>
          <p:cNvPr name="TextBox 29" id="29"/>
          <p:cNvSpPr txBox="true"/>
          <p:nvPr/>
        </p:nvSpPr>
        <p:spPr>
          <a:xfrm rot="0">
            <a:off x="9460786" y="4678751"/>
            <a:ext cx="7063045" cy="524096"/>
          </a:xfrm>
          <a:prstGeom prst="rect">
            <a:avLst/>
          </a:prstGeom>
        </p:spPr>
        <p:txBody>
          <a:bodyPr anchor="t" rtlCol="false" tIns="0" lIns="0" bIns="0" rIns="0">
            <a:spAutoFit/>
          </a:bodyPr>
          <a:lstStyle/>
          <a:p>
            <a:pPr algn="just" marL="0" indent="0" lvl="0">
              <a:lnSpc>
                <a:spcPts val="2040"/>
              </a:lnSpc>
            </a:pPr>
            <a:r>
              <a:rPr lang="en-US" b="true" sz="1889" i="true" spc="-134">
                <a:solidFill>
                  <a:srgbClr val="8FA4C1"/>
                </a:solidFill>
                <a:latin typeface="Montserrat Semi-Bold Italics"/>
                <a:ea typeface="Montserrat Semi-Bold Italics"/>
                <a:cs typeface="Montserrat Semi-Bold Italics"/>
                <a:sym typeface="Montserrat Semi-Bold Italics"/>
              </a:rPr>
              <a:t>ĐỐI TƯỢNG + VÙNG + QUAN HỆ → HIỂU KHÔNG GIAN AI → INSIGHTS + RỦI RO + WHAT-IF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460786" y="628301"/>
            <a:ext cx="1665830" cy="588932"/>
            <a:chOff x="0" y="0"/>
            <a:chExt cx="438737" cy="155110"/>
          </a:xfrm>
        </p:grpSpPr>
        <p:sp>
          <p:nvSpPr>
            <p:cNvPr name="Freeform 6" id="6"/>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pic>
        <p:nvPicPr>
          <p:cNvPr name="Picture 9" id="9"/>
          <p:cNvPicPr>
            <a:picLocks noChangeAspect="true"/>
          </p:cNvPicPr>
          <p:nvPr/>
        </p:nvPicPr>
        <p:blipFill>
          <a:blip r:embed="rId4"/>
          <a:stretch>
            <a:fillRect/>
          </a:stretch>
        </p:blipFill>
        <p:spPr>
          <a:xfrm rot="0">
            <a:off x="10011868" y="1609197"/>
            <a:ext cx="7702023" cy="8497177"/>
          </a:xfrm>
          <a:prstGeom prst="rect">
            <a:avLst/>
          </a:prstGeom>
        </p:spPr>
      </p:pic>
      <p:grpSp>
        <p:nvGrpSpPr>
          <p:cNvPr name="Group 10" id="10"/>
          <p:cNvGrpSpPr/>
          <p:nvPr/>
        </p:nvGrpSpPr>
        <p:grpSpPr>
          <a:xfrm rot="0">
            <a:off x="15492906" y="1840347"/>
            <a:ext cx="1766394" cy="176639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3" id="13"/>
          <p:cNvGrpSpPr/>
          <p:nvPr/>
        </p:nvGrpSpPr>
        <p:grpSpPr>
          <a:xfrm rot="0">
            <a:off x="16045629" y="2393069"/>
            <a:ext cx="660949" cy="66094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6" id="16"/>
          <p:cNvGrpSpPr/>
          <p:nvPr/>
        </p:nvGrpSpPr>
        <p:grpSpPr>
          <a:xfrm rot="0">
            <a:off x="1154833" y="8417555"/>
            <a:ext cx="3075708" cy="776477"/>
            <a:chOff x="0" y="0"/>
            <a:chExt cx="810063" cy="204504"/>
          </a:xfrm>
        </p:grpSpPr>
        <p:sp>
          <p:nvSpPr>
            <p:cNvPr name="Freeform 17" id="17"/>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18" id="18"/>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19" id="19"/>
          <p:cNvGrpSpPr/>
          <p:nvPr/>
        </p:nvGrpSpPr>
        <p:grpSpPr>
          <a:xfrm rot="0">
            <a:off x="3513376" y="8515197"/>
            <a:ext cx="581194" cy="58119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22" id="22"/>
          <p:cNvSpPr txBox="true"/>
          <p:nvPr/>
        </p:nvSpPr>
        <p:spPr>
          <a:xfrm rot="0">
            <a:off x="4441856" y="720220"/>
            <a:ext cx="1662550" cy="341418"/>
          </a:xfrm>
          <a:prstGeom prst="rect">
            <a:avLst/>
          </a:prstGeom>
        </p:spPr>
        <p:txBody>
          <a:bodyPr anchor="t" rtlCol="false" tIns="0" lIns="0" bIns="0" rIns="0">
            <a:spAutoFit/>
          </a:bodyPr>
          <a:lstStyle/>
          <a:p>
            <a:pPr algn="ctr" marL="0" indent="0" lvl="0">
              <a:lnSpc>
                <a:spcPts val="2706"/>
              </a:lnSpc>
              <a:spcBef>
                <a:spcPct val="0"/>
              </a:spcBef>
            </a:pPr>
            <a:r>
              <a:rPr lang="en-US" sz="1933" spc="3">
                <a:solidFill>
                  <a:srgbClr val="101B40"/>
                </a:solidFill>
                <a:latin typeface="Montserrat"/>
                <a:ea typeface="Montserrat"/>
                <a:cs typeface="Montserrat"/>
                <a:sym typeface="Montserrat"/>
              </a:rPr>
              <a:t>HOME</a:t>
            </a:r>
          </a:p>
        </p:txBody>
      </p:sp>
      <p:sp>
        <p:nvSpPr>
          <p:cNvPr name="TextBox 23" id="23"/>
          <p:cNvSpPr txBox="true"/>
          <p:nvPr/>
        </p:nvSpPr>
        <p:spPr>
          <a:xfrm rot="0">
            <a:off x="6829803" y="722433"/>
            <a:ext cx="1907082" cy="341418"/>
          </a:xfrm>
          <a:prstGeom prst="rect">
            <a:avLst/>
          </a:prstGeom>
        </p:spPr>
        <p:txBody>
          <a:bodyPr anchor="t" rtlCol="false" tIns="0" lIns="0" bIns="0" rIns="0">
            <a:spAutoFit/>
          </a:bodyPr>
          <a:lstStyle/>
          <a:p>
            <a:pPr algn="ctr" marL="0" indent="0" lvl="0">
              <a:lnSpc>
                <a:spcPts val="2706"/>
              </a:lnSpc>
              <a:spcBef>
                <a:spcPct val="0"/>
              </a:spcBef>
            </a:pPr>
            <a:r>
              <a:rPr lang="en-US" sz="1933" spc="3">
                <a:solidFill>
                  <a:srgbClr val="101B40"/>
                </a:solidFill>
                <a:latin typeface="Montserrat"/>
                <a:ea typeface="Montserrat"/>
                <a:cs typeface="Montserrat"/>
                <a:sym typeface="Montserrat"/>
              </a:rPr>
              <a:t>ABOUT</a:t>
            </a:r>
          </a:p>
        </p:txBody>
      </p:sp>
      <p:sp>
        <p:nvSpPr>
          <p:cNvPr name="TextBox 24" id="24"/>
          <p:cNvSpPr txBox="true"/>
          <p:nvPr/>
        </p:nvSpPr>
        <p:spPr>
          <a:xfrm rot="0">
            <a:off x="9499106" y="722433"/>
            <a:ext cx="1589190" cy="341418"/>
          </a:xfrm>
          <a:prstGeom prst="rect">
            <a:avLst/>
          </a:prstGeom>
        </p:spPr>
        <p:txBody>
          <a:bodyPr anchor="t" rtlCol="false" tIns="0" lIns="0" bIns="0" rIns="0">
            <a:spAutoFit/>
          </a:bodyPr>
          <a:lstStyle/>
          <a:p>
            <a:pPr algn="ctr" marL="0" indent="0" lvl="0">
              <a:lnSpc>
                <a:spcPts val="2706"/>
              </a:lnSpc>
              <a:spcBef>
                <a:spcPct val="0"/>
              </a:spcBef>
            </a:pPr>
            <a:r>
              <a:rPr lang="en-US" b="true" sz="1933" spc="3">
                <a:solidFill>
                  <a:srgbClr val="F4F4F4"/>
                </a:solidFill>
                <a:latin typeface="Montserrat Bold"/>
                <a:ea typeface="Montserrat Bold"/>
                <a:cs typeface="Montserrat Bold"/>
                <a:sym typeface="Montserrat Bold"/>
              </a:rPr>
              <a:t>CONTENT</a:t>
            </a:r>
          </a:p>
        </p:txBody>
      </p:sp>
      <p:sp>
        <p:nvSpPr>
          <p:cNvPr name="TextBox 25" id="25"/>
          <p:cNvSpPr txBox="true"/>
          <p:nvPr/>
        </p:nvSpPr>
        <p:spPr>
          <a:xfrm rot="0">
            <a:off x="11594836" y="720220"/>
            <a:ext cx="2224975" cy="341418"/>
          </a:xfrm>
          <a:prstGeom prst="rect">
            <a:avLst/>
          </a:prstGeom>
        </p:spPr>
        <p:txBody>
          <a:bodyPr anchor="t" rtlCol="false" tIns="0" lIns="0" bIns="0" rIns="0">
            <a:spAutoFit/>
          </a:bodyPr>
          <a:lstStyle/>
          <a:p>
            <a:pPr algn="ctr" marL="0" indent="0" lvl="0">
              <a:lnSpc>
                <a:spcPts val="2706"/>
              </a:lnSpc>
              <a:spcBef>
                <a:spcPct val="0"/>
              </a:spcBef>
            </a:pPr>
            <a:r>
              <a:rPr lang="en-US" sz="1933" spc="3">
                <a:solidFill>
                  <a:srgbClr val="101B40"/>
                </a:solidFill>
                <a:latin typeface="Montserrat"/>
                <a:ea typeface="Montserrat"/>
                <a:cs typeface="Montserrat"/>
                <a:sym typeface="Montserrat"/>
              </a:rPr>
              <a:t>OTHERS</a:t>
            </a:r>
          </a:p>
        </p:txBody>
      </p:sp>
      <p:sp>
        <p:nvSpPr>
          <p:cNvPr name="TextBox 26" id="26"/>
          <p:cNvSpPr txBox="true"/>
          <p:nvPr/>
        </p:nvSpPr>
        <p:spPr>
          <a:xfrm rot="0">
            <a:off x="804572" y="627964"/>
            <a:ext cx="1888114" cy="542125"/>
          </a:xfrm>
          <a:prstGeom prst="rect">
            <a:avLst/>
          </a:prstGeom>
        </p:spPr>
        <p:txBody>
          <a:bodyPr anchor="t" rtlCol="false" tIns="0" lIns="0" bIns="0" rIns="0">
            <a:spAutoFit/>
          </a:bodyPr>
          <a:lstStyle/>
          <a:p>
            <a:pPr algn="l" marL="0" indent="0" lvl="0">
              <a:lnSpc>
                <a:spcPts val="2167"/>
              </a:lnSpc>
            </a:pPr>
            <a:r>
              <a:rPr lang="en-US" b="true" sz="1988" spc="3">
                <a:solidFill>
                  <a:srgbClr val="101B40"/>
                </a:solidFill>
                <a:latin typeface="Montserrat Bold"/>
                <a:ea typeface="Montserrat Bold"/>
                <a:cs typeface="Montserrat Bold"/>
                <a:sym typeface="Montserrat Bold"/>
              </a:rPr>
              <a:t>THYNK UNLIMITED.</a:t>
            </a:r>
          </a:p>
        </p:txBody>
      </p:sp>
      <p:sp>
        <p:nvSpPr>
          <p:cNvPr name="TextBox 27" id="27"/>
          <p:cNvSpPr txBox="true"/>
          <p:nvPr/>
        </p:nvSpPr>
        <p:spPr>
          <a:xfrm rot="0">
            <a:off x="1315508" y="2098699"/>
            <a:ext cx="8978193" cy="752484"/>
          </a:xfrm>
          <a:prstGeom prst="rect">
            <a:avLst/>
          </a:prstGeom>
        </p:spPr>
        <p:txBody>
          <a:bodyPr anchor="t" rtlCol="false" tIns="0" lIns="0" bIns="0" rIns="0">
            <a:spAutoFit/>
          </a:bodyPr>
          <a:lstStyle/>
          <a:p>
            <a:pPr algn="just" marL="0" indent="0" lvl="0">
              <a:lnSpc>
                <a:spcPts val="6299"/>
              </a:lnSpc>
              <a:spcBef>
                <a:spcPct val="0"/>
              </a:spcBef>
            </a:pPr>
            <a:r>
              <a:rPr lang="en-US" sz="4499" spc="-260">
                <a:solidFill>
                  <a:srgbClr val="101B40"/>
                </a:solidFill>
                <a:latin typeface="Montserrat"/>
                <a:ea typeface="Montserrat"/>
                <a:cs typeface="Montserrat"/>
                <a:sym typeface="Montserrat"/>
              </a:rPr>
              <a:t>Phân Tích Nguy Cơ</a:t>
            </a:r>
          </a:p>
        </p:txBody>
      </p:sp>
      <p:sp>
        <p:nvSpPr>
          <p:cNvPr name="TextBox 28" id="28"/>
          <p:cNvSpPr txBox="true"/>
          <p:nvPr/>
        </p:nvSpPr>
        <p:spPr>
          <a:xfrm rot="0">
            <a:off x="1315508" y="3236952"/>
            <a:ext cx="8183598" cy="811889"/>
          </a:xfrm>
          <a:prstGeom prst="rect">
            <a:avLst/>
          </a:prstGeom>
        </p:spPr>
        <p:txBody>
          <a:bodyPr anchor="t" rtlCol="false" tIns="0" lIns="0" bIns="0" rIns="0">
            <a:spAutoFit/>
          </a:bodyPr>
          <a:lstStyle/>
          <a:p>
            <a:pPr algn="just" marL="0" indent="0" lvl="0">
              <a:lnSpc>
                <a:spcPts val="5945"/>
              </a:lnSpc>
            </a:pPr>
            <a:r>
              <a:rPr lang="en-US" b="true" sz="6606" spc="-383">
                <a:solidFill>
                  <a:srgbClr val="101B40"/>
                </a:solidFill>
                <a:latin typeface="Montserrat Bold"/>
                <a:ea typeface="Montserrat Bold"/>
                <a:cs typeface="Montserrat Bold"/>
                <a:sym typeface="Montserrat Bold"/>
              </a:rPr>
              <a:t>Cháy Rừng bằng AI</a:t>
            </a:r>
          </a:p>
        </p:txBody>
      </p:sp>
      <p:sp>
        <p:nvSpPr>
          <p:cNvPr name="TextBox 29" id="29"/>
          <p:cNvSpPr txBox="true"/>
          <p:nvPr/>
        </p:nvSpPr>
        <p:spPr>
          <a:xfrm rot="0">
            <a:off x="1419090" y="5619215"/>
            <a:ext cx="7724910" cy="2131650"/>
          </a:xfrm>
          <a:prstGeom prst="rect">
            <a:avLst/>
          </a:prstGeom>
        </p:spPr>
        <p:txBody>
          <a:bodyPr anchor="t" rtlCol="false" tIns="0" lIns="0" bIns="0" rIns="0">
            <a:spAutoFit/>
          </a:bodyPr>
          <a:lstStyle/>
          <a:p>
            <a:pPr algn="just" marL="0" indent="0" lvl="0">
              <a:lnSpc>
                <a:spcPts val="2862"/>
              </a:lnSpc>
            </a:pPr>
            <a:r>
              <a:rPr lang="en-US" sz="2308" spc="-147">
                <a:solidFill>
                  <a:srgbClr val="000000"/>
                </a:solidFill>
                <a:latin typeface="Montserrat"/>
                <a:ea typeface="Montserrat"/>
                <a:cs typeface="Montserrat"/>
                <a:sym typeface="Montserrat"/>
              </a:rPr>
              <a:t>Công thức rủi ro:</a:t>
            </a:r>
          </a:p>
          <a:p>
            <a:pPr algn="just" marL="0" indent="0" lvl="0">
              <a:lnSpc>
                <a:spcPts val="2862"/>
              </a:lnSpc>
            </a:pPr>
            <a:r>
              <a:rPr lang="en-US" sz="2308" spc="-147">
                <a:solidFill>
                  <a:srgbClr val="000000"/>
                </a:solidFill>
                <a:latin typeface="Montserrat"/>
                <a:ea typeface="Montserrat"/>
                <a:cs typeface="Montserrat"/>
                <a:sym typeface="Montserrat"/>
              </a:rPr>
              <a:t>Risk = w₁·Thời tiết + w₂·Thảm thực vật + w₃·Địa hình + w₄.Con người   - W: điểm điều kiện thời tiết</a:t>
            </a:r>
          </a:p>
          <a:p>
            <a:pPr algn="just" marL="0" indent="0" lvl="0">
              <a:lnSpc>
                <a:spcPts val="2862"/>
              </a:lnSpc>
            </a:pPr>
            <a:r>
              <a:rPr lang="en-US" sz="2308" spc="-147">
                <a:solidFill>
                  <a:srgbClr val="000000"/>
                </a:solidFill>
                <a:latin typeface="Montserrat"/>
                <a:ea typeface="Montserrat"/>
                <a:cs typeface="Montserrat"/>
                <a:sym typeface="Montserrat"/>
              </a:rPr>
              <a:t>AI tích hợp và định trọng số các yếu tố không gian để tạo bản đồ nguy cơ theo thời gian thực, hỗ trợ cảnh báo sớm và ra quyết định ứng phó.</a:t>
            </a:r>
          </a:p>
        </p:txBody>
      </p:sp>
      <p:sp>
        <p:nvSpPr>
          <p:cNvPr name="TextBox 30" id="30"/>
          <p:cNvSpPr txBox="true"/>
          <p:nvPr/>
        </p:nvSpPr>
        <p:spPr>
          <a:xfrm rot="0">
            <a:off x="1315508" y="4658716"/>
            <a:ext cx="7063045" cy="645308"/>
          </a:xfrm>
          <a:prstGeom prst="rect">
            <a:avLst/>
          </a:prstGeom>
        </p:spPr>
        <p:txBody>
          <a:bodyPr anchor="t" rtlCol="false" tIns="0" lIns="0" bIns="0" rIns="0">
            <a:spAutoFit/>
          </a:bodyPr>
          <a:lstStyle/>
          <a:p>
            <a:pPr algn="just" marL="0" indent="0" lvl="0">
              <a:lnSpc>
                <a:spcPts val="2530"/>
              </a:lnSpc>
            </a:pPr>
            <a:r>
              <a:rPr lang="en-US" b="true" sz="2343" i="true" spc="-166">
                <a:solidFill>
                  <a:srgbClr val="8FA4C1"/>
                </a:solidFill>
                <a:latin typeface="Montserrat Semi-Bold Italics"/>
                <a:ea typeface="Montserrat Semi-Bold Italics"/>
                <a:cs typeface="Montserrat Semi-Bold Italics"/>
                <a:sym typeface="Montserrat Semi-Bold Italics"/>
              </a:rPr>
              <a:t>CASE STUDY – BẢN ĐỒ HEATMAP GIA LAI (SIMULATION/DEMO DATA)</a:t>
            </a:r>
          </a:p>
        </p:txBody>
      </p:sp>
      <p:sp>
        <p:nvSpPr>
          <p:cNvPr name="TextBox 31" id="31"/>
          <p:cNvSpPr txBox="true"/>
          <p:nvPr/>
        </p:nvSpPr>
        <p:spPr>
          <a:xfrm rot="0">
            <a:off x="1419090" y="8617380"/>
            <a:ext cx="2037135" cy="300343"/>
          </a:xfrm>
          <a:prstGeom prst="rect">
            <a:avLst/>
          </a:prstGeom>
        </p:spPr>
        <p:txBody>
          <a:bodyPr anchor="t" rtlCol="false" tIns="0" lIns="0" bIns="0" rIns="0">
            <a:spAutoFit/>
          </a:bodyPr>
          <a:lstStyle/>
          <a:p>
            <a:pPr algn="ctr" marL="0" indent="0" lvl="0">
              <a:lnSpc>
                <a:spcPts val="2384"/>
              </a:lnSpc>
            </a:pPr>
            <a:r>
              <a:rPr lang="en-US" b="true" sz="2207" spc="-156">
                <a:solidFill>
                  <a:srgbClr val="8FA4C1"/>
                </a:solidFill>
                <a:latin typeface="Montserrat Bold"/>
                <a:ea typeface="Montserrat Bold"/>
                <a:cs typeface="Montserrat Bold"/>
                <a:sym typeface="Montserrat Bold"/>
              </a:rPr>
              <a:t>Xem tiếp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460786" y="628301"/>
            <a:ext cx="1665830" cy="588932"/>
            <a:chOff x="0" y="0"/>
            <a:chExt cx="438737" cy="155110"/>
          </a:xfrm>
        </p:grpSpPr>
        <p:sp>
          <p:nvSpPr>
            <p:cNvPr name="Freeform 6" id="6"/>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9" id="9"/>
          <p:cNvGrpSpPr/>
          <p:nvPr/>
        </p:nvGrpSpPr>
        <p:grpSpPr>
          <a:xfrm rot="0">
            <a:off x="11126616" y="2222524"/>
            <a:ext cx="5879177" cy="6812433"/>
            <a:chOff x="0" y="0"/>
            <a:chExt cx="910838" cy="1055424"/>
          </a:xfrm>
        </p:grpSpPr>
        <p:sp>
          <p:nvSpPr>
            <p:cNvPr name="Freeform 10" id="10"/>
            <p:cNvSpPr/>
            <p:nvPr/>
          </p:nvSpPr>
          <p:spPr>
            <a:xfrm flipH="false" flipV="false" rot="0">
              <a:off x="0" y="0"/>
              <a:ext cx="910838" cy="1055424"/>
            </a:xfrm>
            <a:custGeom>
              <a:avLst/>
              <a:gdLst/>
              <a:ahLst/>
              <a:cxnLst/>
              <a:rect r="r" b="b" t="t" l="l"/>
              <a:pathLst>
                <a:path h="1055424" w="910838">
                  <a:moveTo>
                    <a:pt x="42139" y="0"/>
                  </a:moveTo>
                  <a:lnTo>
                    <a:pt x="868699" y="0"/>
                  </a:lnTo>
                  <a:cubicBezTo>
                    <a:pt x="891972" y="0"/>
                    <a:pt x="910838" y="18866"/>
                    <a:pt x="910838" y="42139"/>
                  </a:cubicBezTo>
                  <a:lnTo>
                    <a:pt x="910838" y="1013285"/>
                  </a:lnTo>
                  <a:cubicBezTo>
                    <a:pt x="910838" y="1036558"/>
                    <a:pt x="891972" y="1055424"/>
                    <a:pt x="868699" y="1055424"/>
                  </a:cubicBezTo>
                  <a:lnTo>
                    <a:pt x="42139" y="1055424"/>
                  </a:lnTo>
                  <a:cubicBezTo>
                    <a:pt x="18866" y="1055424"/>
                    <a:pt x="0" y="1036558"/>
                    <a:pt x="0" y="1013285"/>
                  </a:cubicBezTo>
                  <a:lnTo>
                    <a:pt x="0" y="42139"/>
                  </a:lnTo>
                  <a:cubicBezTo>
                    <a:pt x="0" y="18866"/>
                    <a:pt x="18866" y="0"/>
                    <a:pt x="42139" y="0"/>
                  </a:cubicBezTo>
                  <a:close/>
                </a:path>
              </a:pathLst>
            </a:custGeom>
            <a:blipFill>
              <a:blip r:embed="rId4"/>
              <a:stretch>
                <a:fillRect l="-332" t="0" r="-332" b="0"/>
              </a:stretch>
            </a:blipFill>
          </p:spPr>
        </p:sp>
      </p:grpSp>
      <p:grpSp>
        <p:nvGrpSpPr>
          <p:cNvPr name="Group 11" id="11"/>
          <p:cNvGrpSpPr/>
          <p:nvPr/>
        </p:nvGrpSpPr>
        <p:grpSpPr>
          <a:xfrm rot="0">
            <a:off x="15492906" y="1840347"/>
            <a:ext cx="1766394" cy="176639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4" id="14"/>
          <p:cNvGrpSpPr/>
          <p:nvPr/>
        </p:nvGrpSpPr>
        <p:grpSpPr>
          <a:xfrm rot="0">
            <a:off x="16045629" y="2393069"/>
            <a:ext cx="660949" cy="6609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7" id="17"/>
          <p:cNvGrpSpPr/>
          <p:nvPr/>
        </p:nvGrpSpPr>
        <p:grpSpPr>
          <a:xfrm rot="0">
            <a:off x="1154833" y="8417555"/>
            <a:ext cx="3075708" cy="776477"/>
            <a:chOff x="0" y="0"/>
            <a:chExt cx="810063" cy="204504"/>
          </a:xfrm>
        </p:grpSpPr>
        <p:sp>
          <p:nvSpPr>
            <p:cNvPr name="Freeform 18" id="18"/>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19" id="19"/>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0" id="20"/>
          <p:cNvGrpSpPr/>
          <p:nvPr/>
        </p:nvGrpSpPr>
        <p:grpSpPr>
          <a:xfrm rot="0">
            <a:off x="3513376" y="8515197"/>
            <a:ext cx="581194" cy="58119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23" id="23"/>
          <p:cNvSpPr txBox="true"/>
          <p:nvPr/>
        </p:nvSpPr>
        <p:spPr>
          <a:xfrm rot="0">
            <a:off x="4441856" y="729745"/>
            <a:ext cx="1662550" cy="314959"/>
          </a:xfrm>
          <a:prstGeom prst="rect">
            <a:avLst/>
          </a:prstGeom>
        </p:spPr>
        <p:txBody>
          <a:bodyPr anchor="t" rtlCol="false" tIns="0" lIns="0" bIns="0" rIns="0">
            <a:spAutoFit/>
          </a:bodyPr>
          <a:lstStyle/>
          <a:p>
            <a:pPr algn="ctr" marL="0" indent="0" lvl="0">
              <a:lnSpc>
                <a:spcPts val="2590"/>
              </a:lnSpc>
              <a:spcBef>
                <a:spcPct val="0"/>
              </a:spcBef>
            </a:pPr>
            <a:r>
              <a:rPr lang="en-US" sz="1850" spc="3">
                <a:solidFill>
                  <a:srgbClr val="101B40"/>
                </a:solidFill>
                <a:latin typeface="Montserrat"/>
                <a:ea typeface="Montserrat"/>
                <a:cs typeface="Montserrat"/>
                <a:sym typeface="Montserrat"/>
              </a:rPr>
              <a:t>HOME</a:t>
            </a:r>
          </a:p>
        </p:txBody>
      </p:sp>
      <p:sp>
        <p:nvSpPr>
          <p:cNvPr name="TextBox 24" id="24"/>
          <p:cNvSpPr txBox="true"/>
          <p:nvPr/>
        </p:nvSpPr>
        <p:spPr>
          <a:xfrm rot="0">
            <a:off x="6829803" y="731958"/>
            <a:ext cx="1907082" cy="314959"/>
          </a:xfrm>
          <a:prstGeom prst="rect">
            <a:avLst/>
          </a:prstGeom>
        </p:spPr>
        <p:txBody>
          <a:bodyPr anchor="t" rtlCol="false" tIns="0" lIns="0" bIns="0" rIns="0">
            <a:spAutoFit/>
          </a:bodyPr>
          <a:lstStyle/>
          <a:p>
            <a:pPr algn="ctr" marL="0" indent="0" lvl="0">
              <a:lnSpc>
                <a:spcPts val="2590"/>
              </a:lnSpc>
              <a:spcBef>
                <a:spcPct val="0"/>
              </a:spcBef>
            </a:pPr>
            <a:r>
              <a:rPr lang="en-US" sz="1850" spc="3">
                <a:solidFill>
                  <a:srgbClr val="101B40"/>
                </a:solidFill>
                <a:latin typeface="Montserrat"/>
                <a:ea typeface="Montserrat"/>
                <a:cs typeface="Montserrat"/>
                <a:sym typeface="Montserrat"/>
              </a:rPr>
              <a:t>ABOUT</a:t>
            </a:r>
          </a:p>
        </p:txBody>
      </p:sp>
      <p:sp>
        <p:nvSpPr>
          <p:cNvPr name="TextBox 25" id="25"/>
          <p:cNvSpPr txBox="true"/>
          <p:nvPr/>
        </p:nvSpPr>
        <p:spPr>
          <a:xfrm rot="0">
            <a:off x="9499106" y="731958"/>
            <a:ext cx="1589190" cy="314959"/>
          </a:xfrm>
          <a:prstGeom prst="rect">
            <a:avLst/>
          </a:prstGeom>
        </p:spPr>
        <p:txBody>
          <a:bodyPr anchor="t" rtlCol="false" tIns="0" lIns="0" bIns="0" rIns="0">
            <a:spAutoFit/>
          </a:bodyPr>
          <a:lstStyle/>
          <a:p>
            <a:pPr algn="ctr" marL="0" indent="0" lvl="0">
              <a:lnSpc>
                <a:spcPts val="2590"/>
              </a:lnSpc>
              <a:spcBef>
                <a:spcPct val="0"/>
              </a:spcBef>
            </a:pPr>
            <a:r>
              <a:rPr lang="en-US" b="true" sz="1850" spc="3">
                <a:solidFill>
                  <a:srgbClr val="F4F4F4"/>
                </a:solidFill>
                <a:latin typeface="Montserrat Bold"/>
                <a:ea typeface="Montserrat Bold"/>
                <a:cs typeface="Montserrat Bold"/>
                <a:sym typeface="Montserrat Bold"/>
              </a:rPr>
              <a:t>CONTENT</a:t>
            </a:r>
          </a:p>
        </p:txBody>
      </p:sp>
      <p:sp>
        <p:nvSpPr>
          <p:cNvPr name="TextBox 26" id="26"/>
          <p:cNvSpPr txBox="true"/>
          <p:nvPr/>
        </p:nvSpPr>
        <p:spPr>
          <a:xfrm rot="0">
            <a:off x="11594836" y="729745"/>
            <a:ext cx="2224975" cy="314959"/>
          </a:xfrm>
          <a:prstGeom prst="rect">
            <a:avLst/>
          </a:prstGeom>
        </p:spPr>
        <p:txBody>
          <a:bodyPr anchor="t" rtlCol="false" tIns="0" lIns="0" bIns="0" rIns="0">
            <a:spAutoFit/>
          </a:bodyPr>
          <a:lstStyle/>
          <a:p>
            <a:pPr algn="ctr" marL="0" indent="0" lvl="0">
              <a:lnSpc>
                <a:spcPts val="2590"/>
              </a:lnSpc>
              <a:spcBef>
                <a:spcPct val="0"/>
              </a:spcBef>
            </a:pPr>
            <a:r>
              <a:rPr lang="en-US" sz="1850" spc="3">
                <a:solidFill>
                  <a:srgbClr val="101B40"/>
                </a:solidFill>
                <a:latin typeface="Montserrat"/>
                <a:ea typeface="Montserrat"/>
                <a:cs typeface="Montserrat"/>
                <a:sym typeface="Montserrat"/>
              </a:rPr>
              <a:t>OTHERS</a:t>
            </a:r>
          </a:p>
        </p:txBody>
      </p:sp>
      <p:sp>
        <p:nvSpPr>
          <p:cNvPr name="TextBox 27" id="27"/>
          <p:cNvSpPr txBox="true"/>
          <p:nvPr/>
        </p:nvSpPr>
        <p:spPr>
          <a:xfrm rot="0">
            <a:off x="804572" y="627964"/>
            <a:ext cx="1888114" cy="838262"/>
          </a:xfrm>
          <a:prstGeom prst="rect">
            <a:avLst/>
          </a:prstGeom>
        </p:spPr>
        <p:txBody>
          <a:bodyPr anchor="t" rtlCol="false" tIns="0" lIns="0" bIns="0" rIns="0">
            <a:spAutoFit/>
          </a:bodyPr>
          <a:lstStyle/>
          <a:p>
            <a:pPr algn="l" marL="0" indent="0" lvl="0">
              <a:lnSpc>
                <a:spcPts val="2234"/>
              </a:lnSpc>
            </a:pPr>
            <a:r>
              <a:rPr lang="en-US" b="true" sz="2049" spc="4">
                <a:solidFill>
                  <a:srgbClr val="101B40"/>
                </a:solidFill>
                <a:latin typeface="Montserrat Bold"/>
                <a:ea typeface="Montserrat Bold"/>
                <a:cs typeface="Montserrat Bold"/>
                <a:sym typeface="Montserrat Bold"/>
              </a:rPr>
              <a:t>GIALAI</a:t>
            </a:r>
          </a:p>
          <a:p>
            <a:pPr algn="l" marL="0" indent="0" lvl="0">
              <a:lnSpc>
                <a:spcPts val="2234"/>
              </a:lnSpc>
            </a:pPr>
            <a:r>
              <a:rPr lang="en-US" b="true" sz="2049" spc="4">
                <a:solidFill>
                  <a:srgbClr val="101B40"/>
                </a:solidFill>
                <a:latin typeface="Montserrat Bold"/>
                <a:ea typeface="Montserrat Bold"/>
                <a:cs typeface="Montserrat Bold"/>
                <a:sym typeface="Montserrat Bold"/>
              </a:rPr>
              <a:t>ECOCHAIN 1.0</a:t>
            </a:r>
          </a:p>
        </p:txBody>
      </p:sp>
      <p:sp>
        <p:nvSpPr>
          <p:cNvPr name="TextBox 28" id="28"/>
          <p:cNvSpPr txBox="true"/>
          <p:nvPr/>
        </p:nvSpPr>
        <p:spPr>
          <a:xfrm rot="0">
            <a:off x="1315508" y="2060599"/>
            <a:ext cx="8978193" cy="995482"/>
          </a:xfrm>
          <a:prstGeom prst="rect">
            <a:avLst/>
          </a:prstGeom>
        </p:spPr>
        <p:txBody>
          <a:bodyPr anchor="t" rtlCol="false" tIns="0" lIns="0" bIns="0" rIns="0">
            <a:spAutoFit/>
          </a:bodyPr>
          <a:lstStyle/>
          <a:p>
            <a:pPr algn="just" marL="0" indent="0" lvl="0">
              <a:lnSpc>
                <a:spcPts val="8130"/>
              </a:lnSpc>
              <a:spcBef>
                <a:spcPct val="0"/>
              </a:spcBef>
            </a:pPr>
            <a:r>
              <a:rPr lang="en-US" sz="5807" spc="-336">
                <a:solidFill>
                  <a:srgbClr val="101B40"/>
                </a:solidFill>
                <a:latin typeface="Montserrat"/>
                <a:ea typeface="Montserrat"/>
                <a:cs typeface="Montserrat"/>
                <a:sym typeface="Montserrat"/>
              </a:rPr>
              <a:t>Mô Phỏng</a:t>
            </a:r>
          </a:p>
        </p:txBody>
      </p:sp>
      <p:sp>
        <p:nvSpPr>
          <p:cNvPr name="TextBox 29" id="29"/>
          <p:cNvSpPr txBox="true"/>
          <p:nvPr/>
        </p:nvSpPr>
        <p:spPr>
          <a:xfrm rot="0">
            <a:off x="1288746" y="3246477"/>
            <a:ext cx="8210360" cy="1549201"/>
          </a:xfrm>
          <a:prstGeom prst="rect">
            <a:avLst/>
          </a:prstGeom>
        </p:spPr>
        <p:txBody>
          <a:bodyPr anchor="t" rtlCol="false" tIns="0" lIns="0" bIns="0" rIns="0">
            <a:spAutoFit/>
          </a:bodyPr>
          <a:lstStyle/>
          <a:p>
            <a:pPr algn="just" marL="0" indent="0" lvl="0">
              <a:lnSpc>
                <a:spcPts val="5965"/>
              </a:lnSpc>
            </a:pPr>
            <a:r>
              <a:rPr lang="en-US" b="true" sz="6627" spc="-384">
                <a:solidFill>
                  <a:srgbClr val="101B40"/>
                </a:solidFill>
                <a:latin typeface="Montserrat Bold"/>
                <a:ea typeface="Montserrat Bold"/>
                <a:cs typeface="Montserrat Bold"/>
                <a:sym typeface="Montserrat Bold"/>
              </a:rPr>
              <a:t>What-if</a:t>
            </a:r>
          </a:p>
          <a:p>
            <a:pPr algn="just" marL="0" indent="0" lvl="0">
              <a:lnSpc>
                <a:spcPts val="5965"/>
              </a:lnSpc>
            </a:pPr>
            <a:r>
              <a:rPr lang="en-US" b="true" sz="6627" spc="-384">
                <a:solidFill>
                  <a:srgbClr val="101B40"/>
                </a:solidFill>
                <a:latin typeface="Montserrat Bold"/>
                <a:ea typeface="Montserrat Bold"/>
                <a:cs typeface="Montserrat Bold"/>
                <a:sym typeface="Montserrat Bold"/>
              </a:rPr>
              <a:t>Kịch Bản Cháy Rừng</a:t>
            </a:r>
          </a:p>
        </p:txBody>
      </p:sp>
      <p:sp>
        <p:nvSpPr>
          <p:cNvPr name="TextBox 30" id="30"/>
          <p:cNvSpPr txBox="true"/>
          <p:nvPr/>
        </p:nvSpPr>
        <p:spPr>
          <a:xfrm rot="0">
            <a:off x="1288746" y="5628740"/>
            <a:ext cx="7448140" cy="1939933"/>
          </a:xfrm>
          <a:prstGeom prst="rect">
            <a:avLst/>
          </a:prstGeom>
        </p:spPr>
        <p:txBody>
          <a:bodyPr anchor="t" rtlCol="false" tIns="0" lIns="0" bIns="0" rIns="0">
            <a:spAutoFit/>
          </a:bodyPr>
          <a:lstStyle/>
          <a:p>
            <a:pPr algn="just" marL="0" indent="0" lvl="0">
              <a:lnSpc>
                <a:spcPts val="3098"/>
              </a:lnSpc>
            </a:pPr>
            <a:r>
              <a:rPr lang="en-US" sz="2498" spc="-159">
                <a:solidFill>
                  <a:srgbClr val="000000"/>
                </a:solidFill>
                <a:latin typeface="Montserrat"/>
                <a:ea typeface="Montserrat"/>
                <a:cs typeface="Montserrat"/>
                <a:sym typeface="Montserrat"/>
              </a:rPr>
              <a:t>Thay đổi biến đầu vào và quan sát Risk Score theo thời gian thực:</a:t>
            </a:r>
          </a:p>
          <a:p>
            <a:pPr algn="just" marL="0" indent="0" lvl="0">
              <a:lnSpc>
                <a:spcPts val="3098"/>
              </a:lnSpc>
            </a:pPr>
            <a:r>
              <a:rPr lang="en-US" sz="2498" spc="-159">
                <a:solidFill>
                  <a:srgbClr val="000000"/>
                </a:solidFill>
                <a:latin typeface="Montserrat"/>
                <a:ea typeface="Montserrat"/>
                <a:cs typeface="Montserrat"/>
                <a:sym typeface="Montserrat"/>
              </a:rPr>
              <a:t>🌡 Nhiệt độ ↑  |  💧 Độ ẩm ↓  |  🌧 Lượng mưa ↓  |  🌿 Độ khô thực vật ↑</a:t>
            </a:r>
          </a:p>
          <a:p>
            <a:pPr algn="just" marL="0" indent="0" lvl="0">
              <a:lnSpc>
                <a:spcPts val="3098"/>
              </a:lnSpc>
            </a:pPr>
            <a:r>
              <a:rPr lang="en-US" sz="2498" spc="-159">
                <a:solidFill>
                  <a:srgbClr val="000000"/>
                </a:solidFill>
                <a:latin typeface="Montserrat"/>
                <a:ea typeface="Montserrat"/>
                <a:cs typeface="Montserrat"/>
                <a:sym typeface="Montserrat"/>
              </a:rPr>
              <a:t>→ Fire Risk ↑ (Simulation/Demo Data)</a:t>
            </a:r>
          </a:p>
        </p:txBody>
      </p:sp>
      <p:sp>
        <p:nvSpPr>
          <p:cNvPr name="TextBox 31" id="31"/>
          <p:cNvSpPr txBox="true"/>
          <p:nvPr/>
        </p:nvSpPr>
        <p:spPr>
          <a:xfrm rot="0">
            <a:off x="1315508" y="4993007"/>
            <a:ext cx="7063045" cy="320036"/>
          </a:xfrm>
          <a:prstGeom prst="rect">
            <a:avLst/>
          </a:prstGeom>
        </p:spPr>
        <p:txBody>
          <a:bodyPr anchor="t" rtlCol="false" tIns="0" lIns="0" bIns="0" rIns="0">
            <a:spAutoFit/>
          </a:bodyPr>
          <a:lstStyle/>
          <a:p>
            <a:pPr algn="just" marL="0" indent="0" lvl="0">
              <a:lnSpc>
                <a:spcPts val="2429"/>
              </a:lnSpc>
            </a:pPr>
            <a:r>
              <a:rPr lang="en-US" b="true" sz="2249" i="true" spc="-159">
                <a:solidFill>
                  <a:srgbClr val="8FA4C1"/>
                </a:solidFill>
                <a:latin typeface="Montserrat Semi-Bold Italics"/>
                <a:ea typeface="Montserrat Semi-Bold Italics"/>
                <a:cs typeface="Montserrat Semi-Bold Italics"/>
                <a:sym typeface="Montserrat Semi-Bold Italics"/>
              </a:rPr>
              <a:t>KIỂM THỬ TƯƠNG TÁC — SIMULATION/DEMO DATA</a:t>
            </a:r>
          </a:p>
        </p:txBody>
      </p:sp>
      <p:sp>
        <p:nvSpPr>
          <p:cNvPr name="TextBox 32" id="32"/>
          <p:cNvSpPr txBox="true"/>
          <p:nvPr/>
        </p:nvSpPr>
        <p:spPr>
          <a:xfrm rot="0">
            <a:off x="1419090" y="8626905"/>
            <a:ext cx="2037135" cy="395849"/>
          </a:xfrm>
          <a:prstGeom prst="rect">
            <a:avLst/>
          </a:prstGeom>
        </p:spPr>
        <p:txBody>
          <a:bodyPr anchor="t" rtlCol="false" tIns="0" lIns="0" bIns="0" rIns="0">
            <a:spAutoFit/>
          </a:bodyPr>
          <a:lstStyle/>
          <a:p>
            <a:pPr algn="ctr" marL="0" indent="0" lvl="0">
              <a:lnSpc>
                <a:spcPts val="3077"/>
              </a:lnSpc>
            </a:pPr>
            <a:r>
              <a:rPr lang="en-US" b="true" sz="2849" spc="-202">
                <a:solidFill>
                  <a:srgbClr val="8FA4C1"/>
                </a:solidFill>
                <a:latin typeface="Montserrat Bold"/>
                <a:ea typeface="Montserrat Bold"/>
                <a:cs typeface="Montserrat Bold"/>
                <a:sym typeface="Montserrat Bold"/>
              </a:rPr>
              <a:t>Slide 9 / 12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350265" y="341540"/>
            <a:ext cx="17587469" cy="9603920"/>
            <a:chOff x="0" y="0"/>
            <a:chExt cx="4632091" cy="2529427"/>
          </a:xfrm>
        </p:grpSpPr>
        <p:sp>
          <p:nvSpPr>
            <p:cNvPr name="Freeform 3" id="3"/>
            <p:cNvSpPr/>
            <p:nvPr/>
          </p:nvSpPr>
          <p:spPr>
            <a:xfrm flipH="false" flipV="false" rot="0">
              <a:off x="0" y="0"/>
              <a:ext cx="4632091" cy="2529427"/>
            </a:xfrm>
            <a:custGeom>
              <a:avLst/>
              <a:gdLst/>
              <a:ahLst/>
              <a:cxnLst/>
              <a:rect r="r" b="b" t="t" l="l"/>
              <a:pathLst>
                <a:path h="2529427" w="4632091">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name="TextBox 4" id="4"/>
            <p:cNvSpPr txBox="true"/>
            <p:nvPr/>
          </p:nvSpPr>
          <p:spPr>
            <a:xfrm>
              <a:off x="0" y="-38100"/>
              <a:ext cx="4632091" cy="2567527"/>
            </a:xfrm>
            <a:prstGeom prst="rect">
              <a:avLst/>
            </a:prstGeom>
          </p:spPr>
          <p:txBody>
            <a:bodyPr anchor="ctr" rtlCol="false" tIns="50800" lIns="50800" bIns="50800" rIns="50800"/>
            <a:lstStyle/>
            <a:p>
              <a:pPr algn="ctr" marL="0" indent="0" lvl="0">
                <a:lnSpc>
                  <a:spcPts val="2591"/>
                </a:lnSpc>
              </a:pPr>
            </a:p>
          </p:txBody>
        </p:sp>
      </p:grpSp>
      <p:grpSp>
        <p:nvGrpSpPr>
          <p:cNvPr name="Group 5" id="5"/>
          <p:cNvGrpSpPr/>
          <p:nvPr/>
        </p:nvGrpSpPr>
        <p:grpSpPr>
          <a:xfrm rot="0">
            <a:off x="4409081" y="762000"/>
            <a:ext cx="9469839" cy="814592"/>
            <a:chOff x="0" y="0"/>
            <a:chExt cx="2494114" cy="214543"/>
          </a:xfrm>
        </p:grpSpPr>
        <p:sp>
          <p:nvSpPr>
            <p:cNvPr name="Freeform 6" id="6"/>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7" id="7"/>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8" id="8"/>
          <p:cNvGrpSpPr/>
          <p:nvPr/>
        </p:nvGrpSpPr>
        <p:grpSpPr>
          <a:xfrm rot="0">
            <a:off x="9460786" y="874830"/>
            <a:ext cx="1665830" cy="588932"/>
            <a:chOff x="0" y="0"/>
            <a:chExt cx="438737" cy="155110"/>
          </a:xfrm>
        </p:grpSpPr>
        <p:sp>
          <p:nvSpPr>
            <p:cNvPr name="Freeform 9" id="9"/>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10" id="10"/>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11" id="11"/>
          <p:cNvSpPr/>
          <p:nvPr/>
        </p:nvSpPr>
        <p:spPr>
          <a:xfrm flipH="false" flipV="false" rot="0">
            <a:off x="16736419" y="924288"/>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12" id="12"/>
          <p:cNvGrpSpPr/>
          <p:nvPr/>
        </p:nvGrpSpPr>
        <p:grpSpPr>
          <a:xfrm rot="0">
            <a:off x="16465001" y="8346801"/>
            <a:ext cx="1822999" cy="18229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5" id="15"/>
          <p:cNvGrpSpPr/>
          <p:nvPr/>
        </p:nvGrpSpPr>
        <p:grpSpPr>
          <a:xfrm rot="0">
            <a:off x="17035435" y="8917235"/>
            <a:ext cx="682130" cy="6821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8" id="18"/>
          <p:cNvGrpSpPr/>
          <p:nvPr/>
        </p:nvGrpSpPr>
        <p:grpSpPr>
          <a:xfrm rot="0">
            <a:off x="-1014013" y="7723491"/>
            <a:ext cx="2728557" cy="2387487"/>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1F1F1"/>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591"/>
                </a:lnSpc>
              </a:pPr>
            </a:p>
          </p:txBody>
        </p:sp>
      </p:grpSp>
      <p:grpSp>
        <p:nvGrpSpPr>
          <p:cNvPr name="Group 21" id="21"/>
          <p:cNvGrpSpPr/>
          <p:nvPr/>
        </p:nvGrpSpPr>
        <p:grpSpPr>
          <a:xfrm rot="0">
            <a:off x="1077123" y="2192136"/>
            <a:ext cx="6467891" cy="4303905"/>
            <a:chOff x="0" y="0"/>
            <a:chExt cx="910838" cy="606096"/>
          </a:xfrm>
        </p:grpSpPr>
        <p:sp>
          <p:nvSpPr>
            <p:cNvPr name="Freeform 22" id="22"/>
            <p:cNvSpPr/>
            <p:nvPr/>
          </p:nvSpPr>
          <p:spPr>
            <a:xfrm flipH="false" flipV="false" rot="0">
              <a:off x="0" y="0"/>
              <a:ext cx="910838" cy="606096"/>
            </a:xfrm>
            <a:custGeom>
              <a:avLst/>
              <a:gdLst/>
              <a:ahLst/>
              <a:cxnLst/>
              <a:rect r="r" b="b" t="t" l="l"/>
              <a:pathLst>
                <a:path h="606096" w="910838">
                  <a:moveTo>
                    <a:pt x="38303" y="0"/>
                  </a:moveTo>
                  <a:lnTo>
                    <a:pt x="872535" y="0"/>
                  </a:lnTo>
                  <a:cubicBezTo>
                    <a:pt x="882694" y="0"/>
                    <a:pt x="892436" y="4036"/>
                    <a:pt x="899620" y="11219"/>
                  </a:cubicBezTo>
                  <a:cubicBezTo>
                    <a:pt x="906803" y="18402"/>
                    <a:pt x="910838" y="28145"/>
                    <a:pt x="910838" y="38303"/>
                  </a:cubicBezTo>
                  <a:lnTo>
                    <a:pt x="910838" y="567793"/>
                  </a:lnTo>
                  <a:cubicBezTo>
                    <a:pt x="910838" y="588947"/>
                    <a:pt x="893689" y="606096"/>
                    <a:pt x="872535" y="606096"/>
                  </a:cubicBezTo>
                  <a:lnTo>
                    <a:pt x="38303" y="606096"/>
                  </a:lnTo>
                  <a:cubicBezTo>
                    <a:pt x="28145" y="606096"/>
                    <a:pt x="18402" y="602060"/>
                    <a:pt x="11219" y="594877"/>
                  </a:cubicBezTo>
                  <a:cubicBezTo>
                    <a:pt x="4036" y="587694"/>
                    <a:pt x="0" y="577951"/>
                    <a:pt x="0" y="567793"/>
                  </a:cubicBezTo>
                  <a:lnTo>
                    <a:pt x="0" y="38303"/>
                  </a:lnTo>
                  <a:cubicBezTo>
                    <a:pt x="0" y="17149"/>
                    <a:pt x="17149" y="0"/>
                    <a:pt x="38303" y="0"/>
                  </a:cubicBezTo>
                  <a:close/>
                </a:path>
              </a:pathLst>
            </a:custGeom>
            <a:blipFill>
              <a:blip r:embed="rId4"/>
              <a:stretch>
                <a:fillRect l="0" t="-343" r="0" b="-343"/>
              </a:stretch>
            </a:blipFill>
          </p:spPr>
        </p:sp>
      </p:grpSp>
      <p:grpSp>
        <p:nvGrpSpPr>
          <p:cNvPr name="Group 23" id="23"/>
          <p:cNvGrpSpPr/>
          <p:nvPr/>
        </p:nvGrpSpPr>
        <p:grpSpPr>
          <a:xfrm rot="0">
            <a:off x="1748630" y="6924666"/>
            <a:ext cx="3380381" cy="2409834"/>
            <a:chOff x="0" y="0"/>
            <a:chExt cx="890306" cy="634689"/>
          </a:xfrm>
        </p:grpSpPr>
        <p:sp>
          <p:nvSpPr>
            <p:cNvPr name="Freeform 24" id="24"/>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25" id="25"/>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26" id="26"/>
          <p:cNvGrpSpPr/>
          <p:nvPr/>
        </p:nvGrpSpPr>
        <p:grpSpPr>
          <a:xfrm rot="0">
            <a:off x="1901030" y="7077066"/>
            <a:ext cx="3075708" cy="776477"/>
            <a:chOff x="0" y="0"/>
            <a:chExt cx="810063" cy="204504"/>
          </a:xfrm>
        </p:grpSpPr>
        <p:sp>
          <p:nvSpPr>
            <p:cNvPr name="Freeform 27" id="27"/>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28" id="28"/>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9" id="29"/>
          <p:cNvGrpSpPr/>
          <p:nvPr/>
        </p:nvGrpSpPr>
        <p:grpSpPr>
          <a:xfrm rot="0">
            <a:off x="4259572" y="7174707"/>
            <a:ext cx="581194" cy="58119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2" id="32"/>
          <p:cNvGrpSpPr/>
          <p:nvPr/>
        </p:nvGrpSpPr>
        <p:grpSpPr>
          <a:xfrm rot="0">
            <a:off x="7046695" y="6924666"/>
            <a:ext cx="3380381" cy="2409834"/>
            <a:chOff x="0" y="0"/>
            <a:chExt cx="890306" cy="634689"/>
          </a:xfrm>
        </p:grpSpPr>
        <p:sp>
          <p:nvSpPr>
            <p:cNvPr name="Freeform 33" id="33"/>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34" id="34"/>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35" id="35"/>
          <p:cNvGrpSpPr/>
          <p:nvPr/>
        </p:nvGrpSpPr>
        <p:grpSpPr>
          <a:xfrm rot="0">
            <a:off x="7199095" y="7077066"/>
            <a:ext cx="3075708" cy="776477"/>
            <a:chOff x="0" y="0"/>
            <a:chExt cx="810063" cy="204504"/>
          </a:xfrm>
        </p:grpSpPr>
        <p:sp>
          <p:nvSpPr>
            <p:cNvPr name="Freeform 36" id="36"/>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37" id="37"/>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38" id="38"/>
          <p:cNvGrpSpPr/>
          <p:nvPr/>
        </p:nvGrpSpPr>
        <p:grpSpPr>
          <a:xfrm rot="0">
            <a:off x="9557638" y="7174707"/>
            <a:ext cx="581194" cy="58119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41" id="41"/>
          <p:cNvGrpSpPr/>
          <p:nvPr/>
        </p:nvGrpSpPr>
        <p:grpSpPr>
          <a:xfrm rot="0">
            <a:off x="12344761" y="6924666"/>
            <a:ext cx="3380381" cy="2409834"/>
            <a:chOff x="0" y="0"/>
            <a:chExt cx="890306" cy="634689"/>
          </a:xfrm>
        </p:grpSpPr>
        <p:sp>
          <p:nvSpPr>
            <p:cNvPr name="Freeform 42" id="42"/>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43" id="43"/>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44" id="44"/>
          <p:cNvGrpSpPr/>
          <p:nvPr/>
        </p:nvGrpSpPr>
        <p:grpSpPr>
          <a:xfrm rot="0">
            <a:off x="12497161" y="7077066"/>
            <a:ext cx="3075708" cy="776477"/>
            <a:chOff x="0" y="0"/>
            <a:chExt cx="810063" cy="204504"/>
          </a:xfrm>
        </p:grpSpPr>
        <p:sp>
          <p:nvSpPr>
            <p:cNvPr name="Freeform 45" id="45"/>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46" id="46"/>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47" id="47"/>
          <p:cNvGrpSpPr/>
          <p:nvPr/>
        </p:nvGrpSpPr>
        <p:grpSpPr>
          <a:xfrm rot="0">
            <a:off x="14855704" y="7174707"/>
            <a:ext cx="581194" cy="58119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50" id="50"/>
          <p:cNvSpPr txBox="true"/>
          <p:nvPr/>
        </p:nvSpPr>
        <p:spPr>
          <a:xfrm rot="0">
            <a:off x="4441856" y="976273"/>
            <a:ext cx="1662550" cy="339370"/>
          </a:xfrm>
          <a:prstGeom prst="rect">
            <a:avLst/>
          </a:prstGeom>
        </p:spPr>
        <p:txBody>
          <a:bodyPr anchor="t" rtlCol="false" tIns="0" lIns="0" bIns="0" rIns="0">
            <a:spAutoFit/>
          </a:bodyPr>
          <a:lstStyle/>
          <a:p>
            <a:pPr algn="ctr" marL="0" indent="0" lvl="0">
              <a:lnSpc>
                <a:spcPts val="2819"/>
              </a:lnSpc>
              <a:spcBef>
                <a:spcPct val="0"/>
              </a:spcBef>
            </a:pPr>
            <a:r>
              <a:rPr lang="en-US" sz="2013" spc="4">
                <a:solidFill>
                  <a:srgbClr val="101B40"/>
                </a:solidFill>
                <a:latin typeface="Montserrat"/>
                <a:ea typeface="Montserrat"/>
                <a:cs typeface="Montserrat"/>
                <a:sym typeface="Montserrat"/>
              </a:rPr>
              <a:t>HOME</a:t>
            </a:r>
          </a:p>
        </p:txBody>
      </p:sp>
      <p:sp>
        <p:nvSpPr>
          <p:cNvPr name="TextBox 51" id="51"/>
          <p:cNvSpPr txBox="true"/>
          <p:nvPr/>
        </p:nvSpPr>
        <p:spPr>
          <a:xfrm rot="0">
            <a:off x="6829803" y="978486"/>
            <a:ext cx="1907082" cy="339370"/>
          </a:xfrm>
          <a:prstGeom prst="rect">
            <a:avLst/>
          </a:prstGeom>
        </p:spPr>
        <p:txBody>
          <a:bodyPr anchor="t" rtlCol="false" tIns="0" lIns="0" bIns="0" rIns="0">
            <a:spAutoFit/>
          </a:bodyPr>
          <a:lstStyle/>
          <a:p>
            <a:pPr algn="ctr" marL="0" indent="0" lvl="0">
              <a:lnSpc>
                <a:spcPts val="2819"/>
              </a:lnSpc>
              <a:spcBef>
                <a:spcPct val="0"/>
              </a:spcBef>
            </a:pPr>
            <a:r>
              <a:rPr lang="en-US" sz="2013" spc="4">
                <a:solidFill>
                  <a:srgbClr val="101B40"/>
                </a:solidFill>
                <a:latin typeface="Montserrat"/>
                <a:ea typeface="Montserrat"/>
                <a:cs typeface="Montserrat"/>
                <a:sym typeface="Montserrat"/>
              </a:rPr>
              <a:t>ABOUT</a:t>
            </a:r>
          </a:p>
        </p:txBody>
      </p:sp>
      <p:sp>
        <p:nvSpPr>
          <p:cNvPr name="TextBox 52" id="52"/>
          <p:cNvSpPr txBox="true"/>
          <p:nvPr/>
        </p:nvSpPr>
        <p:spPr>
          <a:xfrm rot="0">
            <a:off x="9499106" y="978486"/>
            <a:ext cx="1589190" cy="339370"/>
          </a:xfrm>
          <a:prstGeom prst="rect">
            <a:avLst/>
          </a:prstGeom>
        </p:spPr>
        <p:txBody>
          <a:bodyPr anchor="t" rtlCol="false" tIns="0" lIns="0" bIns="0" rIns="0">
            <a:spAutoFit/>
          </a:bodyPr>
          <a:lstStyle/>
          <a:p>
            <a:pPr algn="ctr" marL="0" indent="0" lvl="0">
              <a:lnSpc>
                <a:spcPts val="2819"/>
              </a:lnSpc>
              <a:spcBef>
                <a:spcPct val="0"/>
              </a:spcBef>
            </a:pPr>
            <a:r>
              <a:rPr lang="en-US" b="true" sz="2013" spc="4">
                <a:solidFill>
                  <a:srgbClr val="F4F4F4"/>
                </a:solidFill>
                <a:latin typeface="Montserrat Bold"/>
                <a:ea typeface="Montserrat Bold"/>
                <a:cs typeface="Montserrat Bold"/>
                <a:sym typeface="Montserrat Bold"/>
              </a:rPr>
              <a:t>CONTENT</a:t>
            </a:r>
          </a:p>
        </p:txBody>
      </p:sp>
      <p:sp>
        <p:nvSpPr>
          <p:cNvPr name="TextBox 53" id="53"/>
          <p:cNvSpPr txBox="true"/>
          <p:nvPr/>
        </p:nvSpPr>
        <p:spPr>
          <a:xfrm rot="0">
            <a:off x="11594836" y="976273"/>
            <a:ext cx="2224975" cy="339370"/>
          </a:xfrm>
          <a:prstGeom prst="rect">
            <a:avLst/>
          </a:prstGeom>
        </p:spPr>
        <p:txBody>
          <a:bodyPr anchor="t" rtlCol="false" tIns="0" lIns="0" bIns="0" rIns="0">
            <a:spAutoFit/>
          </a:bodyPr>
          <a:lstStyle/>
          <a:p>
            <a:pPr algn="ctr" marL="0" indent="0" lvl="0">
              <a:lnSpc>
                <a:spcPts val="2819"/>
              </a:lnSpc>
              <a:spcBef>
                <a:spcPct val="0"/>
              </a:spcBef>
            </a:pPr>
            <a:r>
              <a:rPr lang="en-US" sz="2013" spc="4">
                <a:solidFill>
                  <a:srgbClr val="101B40"/>
                </a:solidFill>
                <a:latin typeface="Montserrat"/>
                <a:ea typeface="Montserrat"/>
                <a:cs typeface="Montserrat"/>
                <a:sym typeface="Montserrat"/>
              </a:rPr>
              <a:t>OTHERS</a:t>
            </a:r>
          </a:p>
        </p:txBody>
      </p:sp>
      <p:sp>
        <p:nvSpPr>
          <p:cNvPr name="TextBox 54" id="54"/>
          <p:cNvSpPr txBox="true"/>
          <p:nvPr/>
        </p:nvSpPr>
        <p:spPr>
          <a:xfrm rot="0">
            <a:off x="1062197" y="995270"/>
            <a:ext cx="1888114" cy="581322"/>
          </a:xfrm>
          <a:prstGeom prst="rect">
            <a:avLst/>
          </a:prstGeom>
        </p:spPr>
        <p:txBody>
          <a:bodyPr anchor="t" rtlCol="false" tIns="0" lIns="0" bIns="0" rIns="0">
            <a:spAutoFit/>
          </a:bodyPr>
          <a:lstStyle/>
          <a:p>
            <a:pPr algn="l" marL="0" indent="0" lvl="0">
              <a:lnSpc>
                <a:spcPts val="2252"/>
              </a:lnSpc>
            </a:pPr>
            <a:r>
              <a:rPr lang="en-US" b="true" sz="2066" spc="4">
                <a:solidFill>
                  <a:srgbClr val="101B40"/>
                </a:solidFill>
                <a:latin typeface="Montserrat Bold"/>
                <a:ea typeface="Montserrat Bold"/>
                <a:cs typeface="Montserrat Bold"/>
                <a:sym typeface="Montserrat Bold"/>
              </a:rPr>
              <a:t>THYNK UNLIMITED.</a:t>
            </a:r>
          </a:p>
        </p:txBody>
      </p:sp>
      <p:sp>
        <p:nvSpPr>
          <p:cNvPr name="TextBox 55" id="55"/>
          <p:cNvSpPr txBox="true"/>
          <p:nvPr/>
        </p:nvSpPr>
        <p:spPr>
          <a:xfrm rot="0">
            <a:off x="7870766" y="4835490"/>
            <a:ext cx="9127094" cy="1241473"/>
          </a:xfrm>
          <a:prstGeom prst="rect">
            <a:avLst/>
          </a:prstGeom>
        </p:spPr>
        <p:txBody>
          <a:bodyPr anchor="t" rtlCol="false" tIns="0" lIns="0" bIns="0" rIns="0">
            <a:spAutoFit/>
          </a:bodyPr>
          <a:lstStyle/>
          <a:p>
            <a:pPr algn="just" marL="0" indent="0" lvl="0">
              <a:lnSpc>
                <a:spcPts val="3305"/>
              </a:lnSpc>
            </a:pPr>
            <a:r>
              <a:rPr lang="en-US" sz="2666" spc="-170">
                <a:solidFill>
                  <a:srgbClr val="000000"/>
                </a:solidFill>
                <a:latin typeface="Montserrat"/>
                <a:ea typeface="Montserrat"/>
                <a:cs typeface="Montserrat"/>
                <a:sym typeface="Montserrat"/>
              </a:rPr>
              <a:t>AI phân tích dữ liệu không gian theo thời gian thực, phát hiện rủi ro, dự báo xu hướng và đề xuất hành động ưu tiên — giúp cơ quan quản lý ra quyết định chính xác, kịp thời.</a:t>
            </a:r>
          </a:p>
        </p:txBody>
      </p:sp>
      <p:sp>
        <p:nvSpPr>
          <p:cNvPr name="TextBox 56" id="56"/>
          <p:cNvSpPr txBox="true"/>
          <p:nvPr/>
        </p:nvSpPr>
        <p:spPr>
          <a:xfrm rot="0">
            <a:off x="7870766" y="2477519"/>
            <a:ext cx="9164670" cy="720525"/>
          </a:xfrm>
          <a:prstGeom prst="rect">
            <a:avLst/>
          </a:prstGeom>
        </p:spPr>
        <p:txBody>
          <a:bodyPr anchor="t" rtlCol="false" tIns="0" lIns="0" bIns="0" rIns="0">
            <a:spAutoFit/>
          </a:bodyPr>
          <a:lstStyle/>
          <a:p>
            <a:pPr algn="just" marL="0" indent="0" lvl="0">
              <a:lnSpc>
                <a:spcPts val="5991"/>
              </a:lnSpc>
              <a:spcBef>
                <a:spcPct val="0"/>
              </a:spcBef>
            </a:pPr>
            <a:r>
              <a:rPr lang="en-US" sz="4279" spc="-248">
                <a:solidFill>
                  <a:srgbClr val="101B40"/>
                </a:solidFill>
                <a:latin typeface="Montserrat"/>
                <a:ea typeface="Montserrat"/>
                <a:cs typeface="Montserrat"/>
                <a:sym typeface="Montserrat"/>
              </a:rPr>
              <a:t>Hỗ Trợ Ra Quyết Định AI</a:t>
            </a:r>
          </a:p>
        </p:txBody>
      </p:sp>
      <p:sp>
        <p:nvSpPr>
          <p:cNvPr name="TextBox 57" id="57"/>
          <p:cNvSpPr txBox="true"/>
          <p:nvPr/>
        </p:nvSpPr>
        <p:spPr>
          <a:xfrm rot="0">
            <a:off x="7870766" y="3622260"/>
            <a:ext cx="9164670" cy="629830"/>
          </a:xfrm>
          <a:prstGeom prst="rect">
            <a:avLst/>
          </a:prstGeom>
        </p:spPr>
        <p:txBody>
          <a:bodyPr anchor="t" rtlCol="false" tIns="0" lIns="0" bIns="0" rIns="0">
            <a:spAutoFit/>
          </a:bodyPr>
          <a:lstStyle/>
          <a:p>
            <a:pPr algn="just" marL="0" indent="0" lvl="0">
              <a:lnSpc>
                <a:spcPts val="4693"/>
              </a:lnSpc>
            </a:pPr>
            <a:r>
              <a:rPr lang="en-US" b="true" sz="5214" spc="-302">
                <a:solidFill>
                  <a:srgbClr val="101B40"/>
                </a:solidFill>
                <a:latin typeface="Montserrat Bold"/>
                <a:ea typeface="Montserrat Bold"/>
                <a:cs typeface="Montserrat Bold"/>
                <a:sym typeface="Montserrat Bold"/>
              </a:rPr>
              <a:t>Từ Phát Hiện đến Hành Động</a:t>
            </a:r>
          </a:p>
        </p:txBody>
      </p:sp>
      <p:sp>
        <p:nvSpPr>
          <p:cNvPr name="TextBox 58" id="58"/>
          <p:cNvSpPr txBox="true"/>
          <p:nvPr/>
        </p:nvSpPr>
        <p:spPr>
          <a:xfrm rot="0">
            <a:off x="2129655" y="8184551"/>
            <a:ext cx="2618330" cy="554568"/>
          </a:xfrm>
          <a:prstGeom prst="rect">
            <a:avLst/>
          </a:prstGeom>
        </p:spPr>
        <p:txBody>
          <a:bodyPr anchor="t" rtlCol="false" tIns="0" lIns="0" bIns="0" rIns="0">
            <a:spAutoFit/>
          </a:bodyPr>
          <a:lstStyle/>
          <a:p>
            <a:pPr algn="ctr" marL="0" indent="0" lvl="0">
              <a:lnSpc>
                <a:spcPts val="2175"/>
              </a:lnSpc>
            </a:pPr>
            <a:r>
              <a:rPr lang="en-US" b="true" sz="2013" spc="-142">
                <a:solidFill>
                  <a:srgbClr val="F4F4F4"/>
                </a:solidFill>
                <a:latin typeface="Montserrat Semi-Bold"/>
                <a:ea typeface="Montserrat Semi-Bold"/>
                <a:cs typeface="Montserrat Semi-Bold"/>
                <a:sym typeface="Montserrat Semi-Bold"/>
              </a:rPr>
              <a:t>PHÁT HIỆN → PHÂN TÍCH → DỰ ĐOÁN</a:t>
            </a:r>
          </a:p>
        </p:txBody>
      </p:sp>
      <p:sp>
        <p:nvSpPr>
          <p:cNvPr name="TextBox 59" id="59"/>
          <p:cNvSpPr txBox="true"/>
          <p:nvPr/>
        </p:nvSpPr>
        <p:spPr>
          <a:xfrm rot="0">
            <a:off x="2015779" y="7200540"/>
            <a:ext cx="2243794" cy="523967"/>
          </a:xfrm>
          <a:prstGeom prst="rect">
            <a:avLst/>
          </a:prstGeom>
        </p:spPr>
        <p:txBody>
          <a:bodyPr anchor="t" rtlCol="false" tIns="0" lIns="0" bIns="0" rIns="0">
            <a:spAutoFit/>
          </a:bodyPr>
          <a:lstStyle/>
          <a:p>
            <a:pPr algn="ctr" marL="0" indent="0" lvl="0">
              <a:lnSpc>
                <a:spcPts val="2031"/>
              </a:lnSpc>
            </a:pPr>
            <a:r>
              <a:rPr lang="en-US" b="true" sz="1881" spc="-133">
                <a:solidFill>
                  <a:srgbClr val="8FA4C1"/>
                </a:solidFill>
                <a:latin typeface="Montserrat Bold"/>
                <a:ea typeface="Montserrat Bold"/>
                <a:cs typeface="Montserrat Bold"/>
                <a:sym typeface="Montserrat Bold"/>
              </a:rPr>
              <a:t>Phát Hiện &amp; Phân Tích</a:t>
            </a:r>
          </a:p>
        </p:txBody>
      </p:sp>
      <p:sp>
        <p:nvSpPr>
          <p:cNvPr name="TextBox 60" id="60"/>
          <p:cNvSpPr txBox="true"/>
          <p:nvPr/>
        </p:nvSpPr>
        <p:spPr>
          <a:xfrm rot="0">
            <a:off x="7620639" y="8068820"/>
            <a:ext cx="2227596" cy="1118632"/>
          </a:xfrm>
          <a:prstGeom prst="rect">
            <a:avLst/>
          </a:prstGeom>
        </p:spPr>
        <p:txBody>
          <a:bodyPr anchor="t" rtlCol="false" tIns="0" lIns="0" bIns="0" rIns="0">
            <a:spAutoFit/>
          </a:bodyPr>
          <a:lstStyle/>
          <a:p>
            <a:pPr algn="ctr" marL="0" indent="0" lvl="0">
              <a:lnSpc>
                <a:spcPts val="2223"/>
              </a:lnSpc>
            </a:pPr>
            <a:r>
              <a:rPr lang="en-US" b="true" sz="2058" spc="-146">
                <a:solidFill>
                  <a:srgbClr val="F4F4F4"/>
                </a:solidFill>
                <a:latin typeface="Montserrat Semi-Bold"/>
                <a:ea typeface="Montserrat Semi-Bold"/>
                <a:cs typeface="Montserrat Semi-Bold"/>
                <a:sym typeface="Montserrat Semi-Bold"/>
              </a:rPr>
              <a:t>AI XÁC ĐỊNH VÙNG CẦN KIỂM TRA &amp; ỨNG PHÓ NGAY.</a:t>
            </a:r>
          </a:p>
        </p:txBody>
      </p:sp>
      <p:sp>
        <p:nvSpPr>
          <p:cNvPr name="TextBox 61" id="61"/>
          <p:cNvSpPr txBox="true"/>
          <p:nvPr/>
        </p:nvSpPr>
        <p:spPr>
          <a:xfrm rot="0">
            <a:off x="12970025" y="8148633"/>
            <a:ext cx="2129854" cy="1038819"/>
          </a:xfrm>
          <a:prstGeom prst="rect">
            <a:avLst/>
          </a:prstGeom>
        </p:spPr>
        <p:txBody>
          <a:bodyPr anchor="t" rtlCol="false" tIns="0" lIns="0" bIns="0" rIns="0">
            <a:spAutoFit/>
          </a:bodyPr>
          <a:lstStyle/>
          <a:p>
            <a:pPr algn="ctr" marL="0" indent="0" lvl="0">
              <a:lnSpc>
                <a:spcPts val="2067"/>
              </a:lnSpc>
            </a:pPr>
            <a:r>
              <a:rPr lang="en-US" b="true" sz="1913" spc="-135">
                <a:solidFill>
                  <a:srgbClr val="F4F4F4"/>
                </a:solidFill>
                <a:latin typeface="Montserrat Semi-Bold"/>
                <a:ea typeface="Montserrat Semi-Bold"/>
                <a:cs typeface="Montserrat Semi-Bold"/>
                <a:sym typeface="Montserrat Semi-Bold"/>
              </a:rPr>
              <a:t>DASHBOARD HIỂN THỊ LỆNH ĐIỀU PHỐI &amp; THEO DÕI.</a:t>
            </a:r>
          </a:p>
        </p:txBody>
      </p:sp>
      <p:sp>
        <p:nvSpPr>
          <p:cNvPr name="TextBox 62" id="62"/>
          <p:cNvSpPr txBox="true"/>
          <p:nvPr/>
        </p:nvSpPr>
        <p:spPr>
          <a:xfrm rot="0">
            <a:off x="7294795" y="7340991"/>
            <a:ext cx="2243794" cy="277841"/>
          </a:xfrm>
          <a:prstGeom prst="rect">
            <a:avLst/>
          </a:prstGeom>
        </p:spPr>
        <p:txBody>
          <a:bodyPr anchor="t" rtlCol="false" tIns="0" lIns="0" bIns="0" rIns="0">
            <a:spAutoFit/>
          </a:bodyPr>
          <a:lstStyle/>
          <a:p>
            <a:pPr algn="ctr" marL="0" indent="0" lvl="0">
              <a:lnSpc>
                <a:spcPts val="2139"/>
              </a:lnSpc>
            </a:pPr>
            <a:r>
              <a:rPr lang="en-US" b="true" sz="1981" spc="-140">
                <a:solidFill>
                  <a:srgbClr val="8FA4C1"/>
                </a:solidFill>
                <a:latin typeface="Montserrat Bold"/>
                <a:ea typeface="Montserrat Bold"/>
                <a:cs typeface="Montserrat Bold"/>
                <a:sym typeface="Montserrat Bold"/>
              </a:rPr>
              <a:t>Đề Xuất Ưu Tiên</a:t>
            </a:r>
          </a:p>
        </p:txBody>
      </p:sp>
      <p:sp>
        <p:nvSpPr>
          <p:cNvPr name="TextBox 63" id="63"/>
          <p:cNvSpPr txBox="true"/>
          <p:nvPr/>
        </p:nvSpPr>
        <p:spPr>
          <a:xfrm rot="0">
            <a:off x="12725850" y="7341955"/>
            <a:ext cx="2243794" cy="279365"/>
          </a:xfrm>
          <a:prstGeom prst="rect">
            <a:avLst/>
          </a:prstGeom>
        </p:spPr>
        <p:txBody>
          <a:bodyPr anchor="t" rtlCol="false" tIns="0" lIns="0" bIns="0" rIns="0">
            <a:spAutoFit/>
          </a:bodyPr>
          <a:lstStyle/>
          <a:p>
            <a:pPr algn="ctr" marL="0" indent="0" lvl="0">
              <a:lnSpc>
                <a:spcPts val="2247"/>
              </a:lnSpc>
            </a:pPr>
            <a:r>
              <a:rPr lang="en-US" b="true" sz="2081" spc="-147">
                <a:solidFill>
                  <a:srgbClr val="8FA4C1"/>
                </a:solidFill>
                <a:latin typeface="Montserrat Bold"/>
                <a:ea typeface="Montserrat Bold"/>
                <a:cs typeface="Montserrat Bold"/>
                <a:sym typeface="Montserrat Bold"/>
              </a:rPr>
              <a:t>Hành Động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350265" y="341540"/>
            <a:ext cx="17587469" cy="9603920"/>
            <a:chOff x="0" y="0"/>
            <a:chExt cx="4632091" cy="2529427"/>
          </a:xfrm>
        </p:grpSpPr>
        <p:sp>
          <p:nvSpPr>
            <p:cNvPr name="Freeform 3" id="3"/>
            <p:cNvSpPr/>
            <p:nvPr/>
          </p:nvSpPr>
          <p:spPr>
            <a:xfrm flipH="false" flipV="false" rot="0">
              <a:off x="0" y="0"/>
              <a:ext cx="4632091" cy="2529427"/>
            </a:xfrm>
            <a:custGeom>
              <a:avLst/>
              <a:gdLst/>
              <a:ahLst/>
              <a:cxnLst/>
              <a:rect r="r" b="b" t="t" l="l"/>
              <a:pathLst>
                <a:path h="2529427" w="4632091">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a:srgbClr val="DCE2EB"/>
            </a:solidFill>
          </p:spPr>
        </p:sp>
        <p:sp>
          <p:nvSpPr>
            <p:cNvPr name="TextBox 4" id="4"/>
            <p:cNvSpPr txBox="true"/>
            <p:nvPr/>
          </p:nvSpPr>
          <p:spPr>
            <a:xfrm>
              <a:off x="0" y="-38100"/>
              <a:ext cx="4632091" cy="2567527"/>
            </a:xfrm>
            <a:prstGeom prst="rect">
              <a:avLst/>
            </a:prstGeom>
          </p:spPr>
          <p:txBody>
            <a:bodyPr anchor="ctr" rtlCol="false" tIns="50800" lIns="50800" bIns="50800" rIns="50800"/>
            <a:lstStyle/>
            <a:p>
              <a:pPr algn="ctr" marL="0" indent="0" lvl="0">
                <a:lnSpc>
                  <a:spcPts val="2591"/>
                </a:lnSpc>
              </a:pPr>
            </a:p>
          </p:txBody>
        </p:sp>
      </p:grpSp>
      <p:grpSp>
        <p:nvGrpSpPr>
          <p:cNvPr name="Group 5" id="5"/>
          <p:cNvGrpSpPr/>
          <p:nvPr/>
        </p:nvGrpSpPr>
        <p:grpSpPr>
          <a:xfrm rot="0">
            <a:off x="4409081" y="762000"/>
            <a:ext cx="9469839" cy="814592"/>
            <a:chOff x="0" y="0"/>
            <a:chExt cx="2494114" cy="214543"/>
          </a:xfrm>
        </p:grpSpPr>
        <p:sp>
          <p:nvSpPr>
            <p:cNvPr name="Freeform 6" id="6"/>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7" id="7"/>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8" id="8"/>
          <p:cNvGrpSpPr/>
          <p:nvPr/>
        </p:nvGrpSpPr>
        <p:grpSpPr>
          <a:xfrm rot="0">
            <a:off x="9261915" y="874830"/>
            <a:ext cx="1991256" cy="588932"/>
            <a:chOff x="0" y="0"/>
            <a:chExt cx="524446" cy="155110"/>
          </a:xfrm>
        </p:grpSpPr>
        <p:sp>
          <p:nvSpPr>
            <p:cNvPr name="Freeform 9" id="9"/>
            <p:cNvSpPr/>
            <p:nvPr/>
          </p:nvSpPr>
          <p:spPr>
            <a:xfrm flipH="false" flipV="false" rot="0">
              <a:off x="0" y="0"/>
              <a:ext cx="524446" cy="155110"/>
            </a:xfrm>
            <a:custGeom>
              <a:avLst/>
              <a:gdLst/>
              <a:ahLst/>
              <a:cxnLst/>
              <a:rect r="r" b="b" t="t" l="l"/>
              <a:pathLst>
                <a:path h="155110" w="524446">
                  <a:moveTo>
                    <a:pt x="77555" y="0"/>
                  </a:moveTo>
                  <a:lnTo>
                    <a:pt x="446891" y="0"/>
                  </a:lnTo>
                  <a:cubicBezTo>
                    <a:pt x="489723" y="0"/>
                    <a:pt x="524446" y="34722"/>
                    <a:pt x="524446" y="77555"/>
                  </a:cubicBezTo>
                  <a:lnTo>
                    <a:pt x="524446" y="77555"/>
                  </a:lnTo>
                  <a:cubicBezTo>
                    <a:pt x="524446" y="120387"/>
                    <a:pt x="489723" y="155110"/>
                    <a:pt x="446891"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10" id="10"/>
            <p:cNvSpPr txBox="true"/>
            <p:nvPr/>
          </p:nvSpPr>
          <p:spPr>
            <a:xfrm>
              <a:off x="0" y="-38100"/>
              <a:ext cx="524446" cy="193210"/>
            </a:xfrm>
            <a:prstGeom prst="rect">
              <a:avLst/>
            </a:prstGeom>
          </p:spPr>
          <p:txBody>
            <a:bodyPr anchor="ctr" rtlCol="false" tIns="50800" lIns="50800" bIns="50800" rIns="50800"/>
            <a:lstStyle/>
            <a:p>
              <a:pPr algn="ctr" marL="0" indent="0" lvl="0">
                <a:lnSpc>
                  <a:spcPts val="2871"/>
                </a:lnSpc>
              </a:pPr>
            </a:p>
          </p:txBody>
        </p:sp>
      </p:grpSp>
      <p:sp>
        <p:nvSpPr>
          <p:cNvPr name="Freeform 11" id="11"/>
          <p:cNvSpPr/>
          <p:nvPr/>
        </p:nvSpPr>
        <p:spPr>
          <a:xfrm flipH="false" flipV="false" rot="0">
            <a:off x="16736419" y="924288"/>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grpSp>
        <p:nvGrpSpPr>
          <p:cNvPr name="Group 12" id="12"/>
          <p:cNvGrpSpPr/>
          <p:nvPr/>
        </p:nvGrpSpPr>
        <p:grpSpPr>
          <a:xfrm rot="0">
            <a:off x="16465001" y="8346801"/>
            <a:ext cx="1822999" cy="18229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1F1"/>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5" id="15"/>
          <p:cNvGrpSpPr/>
          <p:nvPr/>
        </p:nvGrpSpPr>
        <p:grpSpPr>
          <a:xfrm rot="0">
            <a:off x="17035435" y="8917235"/>
            <a:ext cx="682130" cy="68213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18" id="18"/>
          <p:cNvGrpSpPr/>
          <p:nvPr/>
        </p:nvGrpSpPr>
        <p:grpSpPr>
          <a:xfrm rot="0">
            <a:off x="-1014013" y="7723491"/>
            <a:ext cx="2728557" cy="2387487"/>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F1F1F1"/>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marL="0" indent="0" lvl="0">
                <a:lnSpc>
                  <a:spcPts val="2591"/>
                </a:lnSpc>
              </a:pPr>
            </a:p>
          </p:txBody>
        </p:sp>
      </p:grpSp>
      <p:grpSp>
        <p:nvGrpSpPr>
          <p:cNvPr name="Group 21" id="21"/>
          <p:cNvGrpSpPr/>
          <p:nvPr/>
        </p:nvGrpSpPr>
        <p:grpSpPr>
          <a:xfrm rot="0">
            <a:off x="1230046" y="2421605"/>
            <a:ext cx="6083798" cy="4048320"/>
            <a:chOff x="0" y="0"/>
            <a:chExt cx="910838" cy="606096"/>
          </a:xfrm>
        </p:grpSpPr>
        <p:sp>
          <p:nvSpPr>
            <p:cNvPr name="Freeform 22" id="22"/>
            <p:cNvSpPr/>
            <p:nvPr/>
          </p:nvSpPr>
          <p:spPr>
            <a:xfrm flipH="false" flipV="false" rot="0">
              <a:off x="0" y="0"/>
              <a:ext cx="910838" cy="606096"/>
            </a:xfrm>
            <a:custGeom>
              <a:avLst/>
              <a:gdLst/>
              <a:ahLst/>
              <a:cxnLst/>
              <a:rect r="r" b="b" t="t" l="l"/>
              <a:pathLst>
                <a:path h="606096" w="910838">
                  <a:moveTo>
                    <a:pt x="40722" y="0"/>
                  </a:moveTo>
                  <a:lnTo>
                    <a:pt x="870117" y="0"/>
                  </a:lnTo>
                  <a:cubicBezTo>
                    <a:pt x="880917" y="0"/>
                    <a:pt x="891274" y="4290"/>
                    <a:pt x="898911" y="11927"/>
                  </a:cubicBezTo>
                  <a:cubicBezTo>
                    <a:pt x="906548" y="19564"/>
                    <a:pt x="910838" y="29921"/>
                    <a:pt x="910838" y="40722"/>
                  </a:cubicBezTo>
                  <a:lnTo>
                    <a:pt x="910838" y="565374"/>
                  </a:lnTo>
                  <a:cubicBezTo>
                    <a:pt x="910838" y="587864"/>
                    <a:pt x="892607" y="606096"/>
                    <a:pt x="870117" y="606096"/>
                  </a:cubicBezTo>
                  <a:lnTo>
                    <a:pt x="40722" y="606096"/>
                  </a:lnTo>
                  <a:cubicBezTo>
                    <a:pt x="18232" y="606096"/>
                    <a:pt x="0" y="587864"/>
                    <a:pt x="0" y="565374"/>
                  </a:cubicBezTo>
                  <a:lnTo>
                    <a:pt x="0" y="40722"/>
                  </a:lnTo>
                  <a:cubicBezTo>
                    <a:pt x="0" y="18232"/>
                    <a:pt x="18232" y="0"/>
                    <a:pt x="40722" y="0"/>
                  </a:cubicBezTo>
                  <a:close/>
                </a:path>
              </a:pathLst>
            </a:custGeom>
            <a:blipFill>
              <a:blip r:embed="rId4"/>
              <a:stretch>
                <a:fillRect l="0" t="-343" r="0" b="-343"/>
              </a:stretch>
            </a:blipFill>
          </p:spPr>
        </p:sp>
      </p:grpSp>
      <p:grpSp>
        <p:nvGrpSpPr>
          <p:cNvPr name="Group 23" id="23"/>
          <p:cNvGrpSpPr/>
          <p:nvPr/>
        </p:nvGrpSpPr>
        <p:grpSpPr>
          <a:xfrm rot="0">
            <a:off x="1748630" y="6924666"/>
            <a:ext cx="3380381" cy="2409834"/>
            <a:chOff x="0" y="0"/>
            <a:chExt cx="890306" cy="634689"/>
          </a:xfrm>
        </p:grpSpPr>
        <p:sp>
          <p:nvSpPr>
            <p:cNvPr name="Freeform 24" id="24"/>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25" id="25"/>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26" id="26"/>
          <p:cNvGrpSpPr/>
          <p:nvPr/>
        </p:nvGrpSpPr>
        <p:grpSpPr>
          <a:xfrm rot="0">
            <a:off x="1901030" y="7077066"/>
            <a:ext cx="3075708" cy="776477"/>
            <a:chOff x="0" y="0"/>
            <a:chExt cx="810063" cy="204504"/>
          </a:xfrm>
        </p:grpSpPr>
        <p:sp>
          <p:nvSpPr>
            <p:cNvPr name="Freeform 27" id="27"/>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28" id="28"/>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29" id="29"/>
          <p:cNvGrpSpPr/>
          <p:nvPr/>
        </p:nvGrpSpPr>
        <p:grpSpPr>
          <a:xfrm rot="0">
            <a:off x="4259572" y="7174707"/>
            <a:ext cx="581194" cy="58119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32" id="32"/>
          <p:cNvGrpSpPr/>
          <p:nvPr/>
        </p:nvGrpSpPr>
        <p:grpSpPr>
          <a:xfrm rot="0">
            <a:off x="7046695" y="6924666"/>
            <a:ext cx="3380381" cy="2409834"/>
            <a:chOff x="0" y="0"/>
            <a:chExt cx="890306" cy="634689"/>
          </a:xfrm>
        </p:grpSpPr>
        <p:sp>
          <p:nvSpPr>
            <p:cNvPr name="Freeform 33" id="33"/>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34" id="34"/>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35" id="35"/>
          <p:cNvGrpSpPr/>
          <p:nvPr/>
        </p:nvGrpSpPr>
        <p:grpSpPr>
          <a:xfrm rot="0">
            <a:off x="7199095" y="7077066"/>
            <a:ext cx="3075708" cy="776477"/>
            <a:chOff x="0" y="0"/>
            <a:chExt cx="810063" cy="204504"/>
          </a:xfrm>
        </p:grpSpPr>
        <p:sp>
          <p:nvSpPr>
            <p:cNvPr name="Freeform 36" id="36"/>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37" id="37"/>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38" id="38"/>
          <p:cNvGrpSpPr/>
          <p:nvPr/>
        </p:nvGrpSpPr>
        <p:grpSpPr>
          <a:xfrm rot="0">
            <a:off x="9557638" y="7174707"/>
            <a:ext cx="581194" cy="58119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grpSp>
        <p:nvGrpSpPr>
          <p:cNvPr name="Group 41" id="41"/>
          <p:cNvGrpSpPr/>
          <p:nvPr/>
        </p:nvGrpSpPr>
        <p:grpSpPr>
          <a:xfrm rot="0">
            <a:off x="12344761" y="6924666"/>
            <a:ext cx="3380381" cy="2409834"/>
            <a:chOff x="0" y="0"/>
            <a:chExt cx="890306" cy="634689"/>
          </a:xfrm>
        </p:grpSpPr>
        <p:sp>
          <p:nvSpPr>
            <p:cNvPr name="Freeform 42" id="42"/>
            <p:cNvSpPr/>
            <p:nvPr/>
          </p:nvSpPr>
          <p:spPr>
            <a:xfrm flipH="false" flipV="false" rot="0">
              <a:off x="0" y="0"/>
              <a:ext cx="890306" cy="634689"/>
            </a:xfrm>
            <a:custGeom>
              <a:avLst/>
              <a:gdLst/>
              <a:ahLst/>
              <a:cxnLst/>
              <a:rect r="r" b="b" t="t" l="l"/>
              <a:pathLst>
                <a:path h="634689" w="890306">
                  <a:moveTo>
                    <a:pt x="116803" y="0"/>
                  </a:moveTo>
                  <a:lnTo>
                    <a:pt x="773503" y="0"/>
                  </a:lnTo>
                  <a:cubicBezTo>
                    <a:pt x="838012" y="0"/>
                    <a:pt x="890306" y="52294"/>
                    <a:pt x="890306" y="116803"/>
                  </a:cubicBezTo>
                  <a:lnTo>
                    <a:pt x="890306" y="517886"/>
                  </a:lnTo>
                  <a:cubicBezTo>
                    <a:pt x="890306" y="582394"/>
                    <a:pt x="838012" y="634689"/>
                    <a:pt x="773503" y="634689"/>
                  </a:cubicBezTo>
                  <a:lnTo>
                    <a:pt x="116803" y="634689"/>
                  </a:lnTo>
                  <a:cubicBezTo>
                    <a:pt x="52294" y="634689"/>
                    <a:pt x="0" y="582394"/>
                    <a:pt x="0" y="517886"/>
                  </a:cubicBezTo>
                  <a:lnTo>
                    <a:pt x="0" y="116803"/>
                  </a:lnTo>
                  <a:cubicBezTo>
                    <a:pt x="0" y="52294"/>
                    <a:pt x="52294" y="0"/>
                    <a:pt x="116803" y="0"/>
                  </a:cubicBezTo>
                  <a:close/>
                </a:path>
              </a:pathLst>
            </a:custGeom>
            <a:solidFill>
              <a:srgbClr val="8FA4C1"/>
            </a:solidFill>
          </p:spPr>
        </p:sp>
        <p:sp>
          <p:nvSpPr>
            <p:cNvPr name="TextBox 43" id="43"/>
            <p:cNvSpPr txBox="true"/>
            <p:nvPr/>
          </p:nvSpPr>
          <p:spPr>
            <a:xfrm>
              <a:off x="0" y="-38100"/>
              <a:ext cx="890306" cy="672789"/>
            </a:xfrm>
            <a:prstGeom prst="rect">
              <a:avLst/>
            </a:prstGeom>
          </p:spPr>
          <p:txBody>
            <a:bodyPr anchor="ctr" rtlCol="false" tIns="50800" lIns="50800" bIns="50800" rIns="50800"/>
            <a:lstStyle/>
            <a:p>
              <a:pPr algn="ctr" marL="0" indent="0" lvl="0">
                <a:lnSpc>
                  <a:spcPts val="2591"/>
                </a:lnSpc>
              </a:pPr>
            </a:p>
          </p:txBody>
        </p:sp>
      </p:grpSp>
      <p:grpSp>
        <p:nvGrpSpPr>
          <p:cNvPr name="Group 44" id="44"/>
          <p:cNvGrpSpPr/>
          <p:nvPr/>
        </p:nvGrpSpPr>
        <p:grpSpPr>
          <a:xfrm rot="0">
            <a:off x="12497161" y="7077066"/>
            <a:ext cx="3075708" cy="776477"/>
            <a:chOff x="0" y="0"/>
            <a:chExt cx="810063" cy="204504"/>
          </a:xfrm>
        </p:grpSpPr>
        <p:sp>
          <p:nvSpPr>
            <p:cNvPr name="Freeform 45" id="45"/>
            <p:cNvSpPr/>
            <p:nvPr/>
          </p:nvSpPr>
          <p:spPr>
            <a:xfrm flipH="false" flipV="false" rot="0">
              <a:off x="0" y="0"/>
              <a:ext cx="810063" cy="204504"/>
            </a:xfrm>
            <a:custGeom>
              <a:avLst/>
              <a:gdLst/>
              <a:ahLst/>
              <a:cxnLst/>
              <a:rect r="r" b="b" t="t" l="l"/>
              <a:pathLst>
                <a:path h="204504" w="810063">
                  <a:moveTo>
                    <a:pt x="102252" y="0"/>
                  </a:moveTo>
                  <a:lnTo>
                    <a:pt x="707811" y="0"/>
                  </a:lnTo>
                  <a:cubicBezTo>
                    <a:pt x="764283" y="0"/>
                    <a:pt x="810063" y="45780"/>
                    <a:pt x="810063" y="102252"/>
                  </a:cubicBezTo>
                  <a:lnTo>
                    <a:pt x="810063" y="102252"/>
                  </a:lnTo>
                  <a:cubicBezTo>
                    <a:pt x="810063" y="129371"/>
                    <a:pt x="799290" y="155379"/>
                    <a:pt x="780114" y="174555"/>
                  </a:cubicBezTo>
                  <a:cubicBezTo>
                    <a:pt x="760938" y="193731"/>
                    <a:pt x="734930" y="204504"/>
                    <a:pt x="707811" y="204504"/>
                  </a:cubicBezTo>
                  <a:lnTo>
                    <a:pt x="102252" y="204504"/>
                  </a:lnTo>
                  <a:cubicBezTo>
                    <a:pt x="75133" y="204504"/>
                    <a:pt x="49125" y="193731"/>
                    <a:pt x="29949" y="174555"/>
                  </a:cubicBezTo>
                  <a:cubicBezTo>
                    <a:pt x="10773" y="155379"/>
                    <a:pt x="0" y="129371"/>
                    <a:pt x="0" y="102252"/>
                  </a:cubicBezTo>
                  <a:lnTo>
                    <a:pt x="0" y="102252"/>
                  </a:lnTo>
                  <a:cubicBezTo>
                    <a:pt x="0" y="75133"/>
                    <a:pt x="10773" y="49125"/>
                    <a:pt x="29949" y="29949"/>
                  </a:cubicBezTo>
                  <a:cubicBezTo>
                    <a:pt x="49125" y="10773"/>
                    <a:pt x="75133" y="0"/>
                    <a:pt x="102252" y="0"/>
                  </a:cubicBezTo>
                  <a:close/>
                </a:path>
              </a:pathLst>
            </a:custGeom>
            <a:solidFill>
              <a:srgbClr val="FFFFFF"/>
            </a:solidFill>
          </p:spPr>
        </p:sp>
        <p:sp>
          <p:nvSpPr>
            <p:cNvPr name="TextBox 46" id="46"/>
            <p:cNvSpPr txBox="true"/>
            <p:nvPr/>
          </p:nvSpPr>
          <p:spPr>
            <a:xfrm>
              <a:off x="0" y="-38100"/>
              <a:ext cx="810063" cy="242604"/>
            </a:xfrm>
            <a:prstGeom prst="rect">
              <a:avLst/>
            </a:prstGeom>
          </p:spPr>
          <p:txBody>
            <a:bodyPr anchor="ctr" rtlCol="false" tIns="50800" lIns="50800" bIns="50800" rIns="50800"/>
            <a:lstStyle/>
            <a:p>
              <a:pPr algn="ctr" marL="0" indent="0" lvl="0">
                <a:lnSpc>
                  <a:spcPts val="2591"/>
                </a:lnSpc>
              </a:pPr>
            </a:p>
          </p:txBody>
        </p:sp>
      </p:grpSp>
      <p:grpSp>
        <p:nvGrpSpPr>
          <p:cNvPr name="Group 47" id="47"/>
          <p:cNvGrpSpPr/>
          <p:nvPr/>
        </p:nvGrpSpPr>
        <p:grpSpPr>
          <a:xfrm rot="0">
            <a:off x="14855704" y="7174707"/>
            <a:ext cx="581194" cy="581194"/>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FA4C1"/>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91"/>
                </a:lnSpc>
              </a:pPr>
            </a:p>
          </p:txBody>
        </p:sp>
      </p:grpSp>
      <p:sp>
        <p:nvSpPr>
          <p:cNvPr name="TextBox 50" id="50"/>
          <p:cNvSpPr txBox="true"/>
          <p:nvPr/>
        </p:nvSpPr>
        <p:spPr>
          <a:xfrm rot="0">
            <a:off x="4550170" y="966540"/>
            <a:ext cx="1662550" cy="330338"/>
          </a:xfrm>
          <a:prstGeom prst="rect">
            <a:avLst/>
          </a:prstGeom>
        </p:spPr>
        <p:txBody>
          <a:bodyPr anchor="t" rtlCol="false" tIns="0" lIns="0" bIns="0" rIns="0">
            <a:spAutoFit/>
          </a:bodyPr>
          <a:lstStyle/>
          <a:p>
            <a:pPr algn="ctr" marL="0" indent="0" lvl="0">
              <a:lnSpc>
                <a:spcPts val="2792"/>
              </a:lnSpc>
              <a:spcBef>
                <a:spcPct val="0"/>
              </a:spcBef>
            </a:pPr>
            <a:r>
              <a:rPr lang="en-US" sz="1994" spc="3">
                <a:solidFill>
                  <a:srgbClr val="101B40"/>
                </a:solidFill>
                <a:latin typeface="Montserrat"/>
                <a:ea typeface="Montserrat"/>
                <a:cs typeface="Montserrat"/>
                <a:sym typeface="Montserrat"/>
              </a:rPr>
              <a:t>TRANG CHỦ</a:t>
            </a:r>
          </a:p>
        </p:txBody>
      </p:sp>
      <p:sp>
        <p:nvSpPr>
          <p:cNvPr name="TextBox 51" id="51"/>
          <p:cNvSpPr txBox="true"/>
          <p:nvPr/>
        </p:nvSpPr>
        <p:spPr>
          <a:xfrm rot="0">
            <a:off x="6683043" y="988011"/>
            <a:ext cx="1907082" cy="330338"/>
          </a:xfrm>
          <a:prstGeom prst="rect">
            <a:avLst/>
          </a:prstGeom>
        </p:spPr>
        <p:txBody>
          <a:bodyPr anchor="t" rtlCol="false" tIns="0" lIns="0" bIns="0" rIns="0">
            <a:spAutoFit/>
          </a:bodyPr>
          <a:lstStyle/>
          <a:p>
            <a:pPr algn="ctr" marL="0" indent="0" lvl="0">
              <a:lnSpc>
                <a:spcPts val="2792"/>
              </a:lnSpc>
              <a:spcBef>
                <a:spcPct val="0"/>
              </a:spcBef>
            </a:pPr>
            <a:r>
              <a:rPr lang="en-US" sz="1994" spc="3">
                <a:solidFill>
                  <a:srgbClr val="101B40"/>
                </a:solidFill>
                <a:latin typeface="Montserrat"/>
                <a:ea typeface="Montserrat"/>
                <a:cs typeface="Montserrat"/>
                <a:sym typeface="Montserrat"/>
              </a:rPr>
              <a:t>GIỚI THIỆU</a:t>
            </a:r>
          </a:p>
        </p:txBody>
      </p:sp>
      <p:sp>
        <p:nvSpPr>
          <p:cNvPr name="TextBox 52" id="52"/>
          <p:cNvSpPr txBox="true"/>
          <p:nvPr/>
        </p:nvSpPr>
        <p:spPr>
          <a:xfrm rot="0">
            <a:off x="9499106" y="988011"/>
            <a:ext cx="1589190" cy="330338"/>
          </a:xfrm>
          <a:prstGeom prst="rect">
            <a:avLst/>
          </a:prstGeom>
        </p:spPr>
        <p:txBody>
          <a:bodyPr anchor="t" rtlCol="false" tIns="0" lIns="0" bIns="0" rIns="0">
            <a:spAutoFit/>
          </a:bodyPr>
          <a:lstStyle/>
          <a:p>
            <a:pPr algn="ctr" marL="0" indent="0" lvl="0">
              <a:lnSpc>
                <a:spcPts val="2792"/>
              </a:lnSpc>
              <a:spcBef>
                <a:spcPct val="0"/>
              </a:spcBef>
            </a:pPr>
            <a:r>
              <a:rPr lang="en-US" b="true" sz="1994" spc="3">
                <a:solidFill>
                  <a:srgbClr val="F4F4F4"/>
                </a:solidFill>
                <a:latin typeface="Montserrat Bold"/>
                <a:ea typeface="Montserrat Bold"/>
                <a:cs typeface="Montserrat Bold"/>
                <a:sym typeface="Montserrat Bold"/>
              </a:rPr>
              <a:t>ỨNG DỤNG</a:t>
            </a:r>
          </a:p>
        </p:txBody>
      </p:sp>
      <p:sp>
        <p:nvSpPr>
          <p:cNvPr name="TextBox 53" id="53"/>
          <p:cNvSpPr txBox="true"/>
          <p:nvPr/>
        </p:nvSpPr>
        <p:spPr>
          <a:xfrm rot="0">
            <a:off x="11594836" y="985798"/>
            <a:ext cx="2224975" cy="330338"/>
          </a:xfrm>
          <a:prstGeom prst="rect">
            <a:avLst/>
          </a:prstGeom>
        </p:spPr>
        <p:txBody>
          <a:bodyPr anchor="t" rtlCol="false" tIns="0" lIns="0" bIns="0" rIns="0">
            <a:spAutoFit/>
          </a:bodyPr>
          <a:lstStyle/>
          <a:p>
            <a:pPr algn="ctr" marL="0" indent="0" lvl="0">
              <a:lnSpc>
                <a:spcPts val="2792"/>
              </a:lnSpc>
              <a:spcBef>
                <a:spcPct val="0"/>
              </a:spcBef>
            </a:pPr>
            <a:r>
              <a:rPr lang="en-US" sz="1994" spc="3">
                <a:solidFill>
                  <a:srgbClr val="101B40"/>
                </a:solidFill>
                <a:latin typeface="Montserrat"/>
                <a:ea typeface="Montserrat"/>
                <a:cs typeface="Montserrat"/>
                <a:sym typeface="Montserrat"/>
              </a:rPr>
              <a:t>KHÁC</a:t>
            </a:r>
          </a:p>
        </p:txBody>
      </p:sp>
      <p:sp>
        <p:nvSpPr>
          <p:cNvPr name="TextBox 54" id="54"/>
          <p:cNvSpPr txBox="true"/>
          <p:nvPr/>
        </p:nvSpPr>
        <p:spPr>
          <a:xfrm rot="0">
            <a:off x="804572" y="874492"/>
            <a:ext cx="1888114" cy="838197"/>
          </a:xfrm>
          <a:prstGeom prst="rect">
            <a:avLst/>
          </a:prstGeom>
        </p:spPr>
        <p:txBody>
          <a:bodyPr anchor="t" rtlCol="false" tIns="0" lIns="0" bIns="0" rIns="0">
            <a:spAutoFit/>
          </a:bodyPr>
          <a:lstStyle/>
          <a:p>
            <a:pPr algn="l" marL="0" indent="0" lvl="0">
              <a:lnSpc>
                <a:spcPts val="2229"/>
              </a:lnSpc>
            </a:pPr>
            <a:r>
              <a:rPr lang="en-US" b="true" sz="2045" spc="4">
                <a:solidFill>
                  <a:srgbClr val="101B40"/>
                </a:solidFill>
                <a:latin typeface="Montserrat Bold"/>
                <a:ea typeface="Montserrat Bold"/>
                <a:cs typeface="Montserrat Bold"/>
                <a:sym typeface="Montserrat Bold"/>
              </a:rPr>
              <a:t>GIALAI</a:t>
            </a:r>
          </a:p>
          <a:p>
            <a:pPr algn="l" marL="0" indent="0" lvl="0">
              <a:lnSpc>
                <a:spcPts val="2229"/>
              </a:lnSpc>
            </a:pPr>
            <a:r>
              <a:rPr lang="en-US" b="true" sz="2045" spc="4">
                <a:solidFill>
                  <a:srgbClr val="101B40"/>
                </a:solidFill>
                <a:latin typeface="Montserrat Bold"/>
                <a:ea typeface="Montserrat Bold"/>
                <a:cs typeface="Montserrat Bold"/>
                <a:sym typeface="Montserrat Bold"/>
              </a:rPr>
              <a:t>ECOCHAIN 1.0</a:t>
            </a:r>
          </a:p>
        </p:txBody>
      </p:sp>
      <p:sp>
        <p:nvSpPr>
          <p:cNvPr name="TextBox 55" id="55"/>
          <p:cNvSpPr txBox="true"/>
          <p:nvPr/>
        </p:nvSpPr>
        <p:spPr>
          <a:xfrm rot="0">
            <a:off x="7870766" y="4620790"/>
            <a:ext cx="8594235" cy="1788459"/>
          </a:xfrm>
          <a:prstGeom prst="rect">
            <a:avLst/>
          </a:prstGeom>
        </p:spPr>
        <p:txBody>
          <a:bodyPr anchor="t" rtlCol="false" tIns="0" lIns="0" bIns="0" rIns="0">
            <a:spAutoFit/>
          </a:bodyPr>
          <a:lstStyle/>
          <a:p>
            <a:pPr algn="just" marL="0" indent="0" lvl="0">
              <a:lnSpc>
                <a:spcPts val="2848"/>
              </a:lnSpc>
            </a:pPr>
            <a:r>
              <a:rPr lang="en-US" sz="2297" spc="-147">
                <a:solidFill>
                  <a:srgbClr val="000000"/>
                </a:solidFill>
                <a:latin typeface="Montserrat"/>
                <a:ea typeface="Montserrat"/>
                <a:cs typeface="Montserrat"/>
                <a:sym typeface="Montserrat"/>
              </a:rPr>
              <a:t>Kiến trúc mở rộng được cho nhiều bài toán khác nhau. Từ bảo vệ rừng, giám sát thiên tai, nông nghiệp thông minh đến tín chỉ carbon, EUDR và logistics xanh – một nền tảng AI/GIS duy nhất phục vụ toàn tỉnh.</a:t>
            </a:r>
          </a:p>
          <a:p>
            <a:pPr algn="just" marL="0" indent="0" lvl="0">
              <a:lnSpc>
                <a:spcPts val="2848"/>
              </a:lnSpc>
            </a:pPr>
            <a:r>
              <a:rPr lang="en-US" sz="2297" spc="-147">
                <a:solidFill>
                  <a:srgbClr val="000000"/>
                </a:solidFill>
                <a:latin typeface="Montserrat"/>
                <a:ea typeface="Montserrat"/>
                <a:cs typeface="Montserrat"/>
                <a:sym typeface="Montserrat"/>
              </a:rPr>
              <a:t>(Simulation/Demo Data)</a:t>
            </a:r>
          </a:p>
        </p:txBody>
      </p:sp>
      <p:sp>
        <p:nvSpPr>
          <p:cNvPr name="TextBox 56" id="56"/>
          <p:cNvSpPr txBox="true"/>
          <p:nvPr/>
        </p:nvSpPr>
        <p:spPr>
          <a:xfrm rot="0">
            <a:off x="7870766" y="2220244"/>
            <a:ext cx="9164670" cy="954341"/>
          </a:xfrm>
          <a:prstGeom prst="rect">
            <a:avLst/>
          </a:prstGeom>
        </p:spPr>
        <p:txBody>
          <a:bodyPr anchor="t" rtlCol="false" tIns="0" lIns="0" bIns="0" rIns="0">
            <a:spAutoFit/>
          </a:bodyPr>
          <a:lstStyle/>
          <a:p>
            <a:pPr algn="just" marL="0" indent="0" lvl="0">
              <a:lnSpc>
                <a:spcPts val="7839"/>
              </a:lnSpc>
              <a:spcBef>
                <a:spcPct val="0"/>
              </a:spcBef>
            </a:pPr>
            <a:r>
              <a:rPr lang="en-US" sz="5599" spc="-324">
                <a:solidFill>
                  <a:srgbClr val="101B40"/>
                </a:solidFill>
                <a:latin typeface="Montserrat"/>
                <a:ea typeface="Montserrat"/>
                <a:cs typeface="Montserrat"/>
                <a:sym typeface="Montserrat"/>
              </a:rPr>
              <a:t>Ứng dụng thực tiễn</a:t>
            </a:r>
          </a:p>
        </p:txBody>
      </p:sp>
      <p:sp>
        <p:nvSpPr>
          <p:cNvPr name="TextBox 57" id="57"/>
          <p:cNvSpPr txBox="true"/>
          <p:nvPr/>
        </p:nvSpPr>
        <p:spPr>
          <a:xfrm rot="0">
            <a:off x="7870766" y="3545638"/>
            <a:ext cx="9164670" cy="832047"/>
          </a:xfrm>
          <a:prstGeom prst="rect">
            <a:avLst/>
          </a:prstGeom>
        </p:spPr>
        <p:txBody>
          <a:bodyPr anchor="t" rtlCol="false" tIns="0" lIns="0" bIns="0" rIns="0">
            <a:spAutoFit/>
          </a:bodyPr>
          <a:lstStyle/>
          <a:p>
            <a:pPr algn="just" marL="0" indent="0" lvl="0">
              <a:lnSpc>
                <a:spcPts val="6140"/>
              </a:lnSpc>
            </a:pPr>
            <a:r>
              <a:rPr lang="en-US" b="true" sz="6823" spc="-395">
                <a:solidFill>
                  <a:srgbClr val="101B40"/>
                </a:solidFill>
                <a:latin typeface="Montserrat Bold"/>
                <a:ea typeface="Montserrat Bold"/>
                <a:cs typeface="Montserrat Bold"/>
                <a:sym typeface="Montserrat Bold"/>
              </a:rPr>
              <a:t>GIALAI EcoChain</a:t>
            </a:r>
          </a:p>
        </p:txBody>
      </p:sp>
      <p:sp>
        <p:nvSpPr>
          <p:cNvPr name="TextBox 58" id="58"/>
          <p:cNvSpPr txBox="true"/>
          <p:nvPr/>
        </p:nvSpPr>
        <p:spPr>
          <a:xfrm rot="0">
            <a:off x="2129655" y="8011473"/>
            <a:ext cx="2618330" cy="1038523"/>
          </a:xfrm>
          <a:prstGeom prst="rect">
            <a:avLst/>
          </a:prstGeom>
        </p:spPr>
        <p:txBody>
          <a:bodyPr anchor="t" rtlCol="false" tIns="0" lIns="0" bIns="0" rIns="0">
            <a:spAutoFit/>
          </a:bodyPr>
          <a:lstStyle/>
          <a:p>
            <a:pPr algn="ctr" marL="0" indent="0" lvl="0">
              <a:lnSpc>
                <a:spcPts val="2046"/>
              </a:lnSpc>
            </a:pPr>
            <a:r>
              <a:rPr lang="en-US" b="true" sz="1894" spc="-134">
                <a:solidFill>
                  <a:srgbClr val="F4F4F4"/>
                </a:solidFill>
                <a:latin typeface="Montserrat Semi-Bold"/>
                <a:ea typeface="Montserrat Semi-Bold"/>
                <a:cs typeface="Montserrat Semi-Bold"/>
                <a:sym typeface="Montserrat Semi-Bold"/>
              </a:rPr>
              <a:t>GIÁM SÁT MẤT RỪNG, TÍN CHỈ CARBON &amp; TUÂN THỦ EUDR THEO THỜI GIAN THỰC</a:t>
            </a:r>
          </a:p>
        </p:txBody>
      </p:sp>
      <p:sp>
        <p:nvSpPr>
          <p:cNvPr name="TextBox 59" id="59"/>
          <p:cNvSpPr txBox="true"/>
          <p:nvPr/>
        </p:nvSpPr>
        <p:spPr>
          <a:xfrm rot="0">
            <a:off x="2015779" y="7184232"/>
            <a:ext cx="2243794" cy="553757"/>
          </a:xfrm>
          <a:prstGeom prst="rect">
            <a:avLst/>
          </a:prstGeom>
        </p:spPr>
        <p:txBody>
          <a:bodyPr anchor="t" rtlCol="false" tIns="0" lIns="0" bIns="0" rIns="0">
            <a:spAutoFit/>
          </a:bodyPr>
          <a:lstStyle/>
          <a:p>
            <a:pPr algn="ctr" marL="0" indent="0" lvl="0">
              <a:lnSpc>
                <a:spcPts val="2117"/>
              </a:lnSpc>
            </a:pPr>
            <a:r>
              <a:rPr lang="en-US" b="true" sz="1960" spc="-139">
                <a:solidFill>
                  <a:srgbClr val="8FA4C1"/>
                </a:solidFill>
                <a:latin typeface="Montserrat Bold"/>
                <a:ea typeface="Montserrat Bold"/>
                <a:cs typeface="Montserrat Bold"/>
                <a:sym typeface="Montserrat Bold"/>
              </a:rPr>
              <a:t>Bảo vệ rừng &amp; Carbon</a:t>
            </a:r>
          </a:p>
        </p:txBody>
      </p:sp>
      <p:sp>
        <p:nvSpPr>
          <p:cNvPr name="TextBox 60" id="60"/>
          <p:cNvSpPr txBox="true"/>
          <p:nvPr/>
        </p:nvSpPr>
        <p:spPr>
          <a:xfrm rot="0">
            <a:off x="7636584" y="8011029"/>
            <a:ext cx="2200603" cy="1247271"/>
          </a:xfrm>
          <a:prstGeom prst="rect">
            <a:avLst/>
          </a:prstGeom>
        </p:spPr>
        <p:txBody>
          <a:bodyPr anchor="t" rtlCol="false" tIns="0" lIns="0" bIns="0" rIns="0">
            <a:spAutoFit/>
          </a:bodyPr>
          <a:lstStyle/>
          <a:p>
            <a:pPr algn="just" marL="0" indent="0" lvl="0">
              <a:lnSpc>
                <a:spcPts val="1989"/>
              </a:lnSpc>
            </a:pPr>
            <a:r>
              <a:rPr lang="en-US" b="true" sz="1841" spc="-130">
                <a:solidFill>
                  <a:srgbClr val="F4F4F4"/>
                </a:solidFill>
                <a:latin typeface="Montserrat Semi-Bold"/>
                <a:ea typeface="Montserrat Semi-Bold"/>
                <a:cs typeface="Montserrat Semi-Bold"/>
                <a:sym typeface="Montserrat Semi-Bold"/>
              </a:rPr>
              <a:t>CẢNH BÁO SỚM LŨ LỤT, HẠN HÁN &amp; TỐI ƯU MÙA VỤ NÔNG NGHIỆP THÔNG MINH</a:t>
            </a:r>
          </a:p>
        </p:txBody>
      </p:sp>
      <p:sp>
        <p:nvSpPr>
          <p:cNvPr name="TextBox 61" id="61"/>
          <p:cNvSpPr txBox="true"/>
          <p:nvPr/>
        </p:nvSpPr>
        <p:spPr>
          <a:xfrm rot="0">
            <a:off x="12970025" y="7922978"/>
            <a:ext cx="2129854" cy="1335322"/>
          </a:xfrm>
          <a:prstGeom prst="rect">
            <a:avLst/>
          </a:prstGeom>
        </p:spPr>
        <p:txBody>
          <a:bodyPr anchor="t" rtlCol="false" tIns="0" lIns="0" bIns="0" rIns="0">
            <a:spAutoFit/>
          </a:bodyPr>
          <a:lstStyle/>
          <a:p>
            <a:pPr algn="ctr" marL="0" indent="0" lvl="0">
              <a:lnSpc>
                <a:spcPts val="2154"/>
              </a:lnSpc>
            </a:pPr>
            <a:r>
              <a:rPr lang="en-US" b="true" sz="1994" spc="-141">
                <a:solidFill>
                  <a:srgbClr val="F4F4F4"/>
                </a:solidFill>
                <a:latin typeface="Montserrat Semi-Bold"/>
                <a:ea typeface="Montserrat Semi-Bold"/>
                <a:cs typeface="Montserrat Semi-Bold"/>
                <a:sym typeface="Montserrat Semi-Bold"/>
              </a:rPr>
              <a:t>TỐI ƯU HÓA TUYẾN ĐƯỜNG VẬN CHUYỂN GIẢM PHÁT THẢI CO₂ TOÀN TỈNH</a:t>
            </a:r>
          </a:p>
        </p:txBody>
      </p:sp>
      <p:sp>
        <p:nvSpPr>
          <p:cNvPr name="TextBox 62" id="62"/>
          <p:cNvSpPr txBox="true"/>
          <p:nvPr/>
        </p:nvSpPr>
        <p:spPr>
          <a:xfrm rot="0">
            <a:off x="7313845" y="7184232"/>
            <a:ext cx="2243794" cy="553757"/>
          </a:xfrm>
          <a:prstGeom prst="rect">
            <a:avLst/>
          </a:prstGeom>
        </p:spPr>
        <p:txBody>
          <a:bodyPr anchor="t" rtlCol="false" tIns="0" lIns="0" bIns="0" rIns="0">
            <a:spAutoFit/>
          </a:bodyPr>
          <a:lstStyle/>
          <a:p>
            <a:pPr algn="ctr" marL="0" indent="0" lvl="0">
              <a:lnSpc>
                <a:spcPts val="2117"/>
              </a:lnSpc>
            </a:pPr>
            <a:r>
              <a:rPr lang="en-US" b="true" sz="1960" spc="-139">
                <a:solidFill>
                  <a:srgbClr val="8FA4C1"/>
                </a:solidFill>
                <a:latin typeface="Montserrat Bold"/>
                <a:ea typeface="Montserrat Bold"/>
                <a:cs typeface="Montserrat Bold"/>
                <a:sym typeface="Montserrat Bold"/>
              </a:rPr>
              <a:t>Thiên tai &amp; Nông nghiệp</a:t>
            </a:r>
          </a:p>
        </p:txBody>
      </p:sp>
      <p:sp>
        <p:nvSpPr>
          <p:cNvPr name="TextBox 63" id="63"/>
          <p:cNvSpPr txBox="true"/>
          <p:nvPr/>
        </p:nvSpPr>
        <p:spPr>
          <a:xfrm rot="0">
            <a:off x="12697914" y="7321583"/>
            <a:ext cx="2243794" cy="288581"/>
          </a:xfrm>
          <a:prstGeom prst="rect">
            <a:avLst/>
          </a:prstGeom>
        </p:spPr>
        <p:txBody>
          <a:bodyPr anchor="t" rtlCol="false" tIns="0" lIns="0" bIns="0" rIns="0">
            <a:spAutoFit/>
          </a:bodyPr>
          <a:lstStyle/>
          <a:p>
            <a:pPr algn="ctr" marL="0" indent="0" lvl="0">
              <a:lnSpc>
                <a:spcPts val="2225"/>
              </a:lnSpc>
            </a:pPr>
            <a:r>
              <a:rPr lang="en-US" b="true" sz="2060" spc="-146">
                <a:solidFill>
                  <a:srgbClr val="8FA4C1"/>
                </a:solidFill>
                <a:latin typeface="Montserrat Bold"/>
                <a:ea typeface="Montserrat Bold"/>
                <a:cs typeface="Montserrat Bold"/>
                <a:sym typeface="Montserrat Bold"/>
              </a:rPr>
              <a:t>Logistics Xanh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4409081" y="515471"/>
            <a:ext cx="9469839" cy="814592"/>
            <a:chOff x="0" y="0"/>
            <a:chExt cx="2494114" cy="214543"/>
          </a:xfrm>
        </p:grpSpPr>
        <p:sp>
          <p:nvSpPr>
            <p:cNvPr name="Freeform 3" id="3"/>
            <p:cNvSpPr/>
            <p:nvPr/>
          </p:nvSpPr>
          <p:spPr>
            <a:xfrm flipH="false" flipV="false" rot="0">
              <a:off x="0" y="0"/>
              <a:ext cx="2494114" cy="214543"/>
            </a:xfrm>
            <a:custGeom>
              <a:avLst/>
              <a:gdLst/>
              <a:ahLst/>
              <a:cxnLst/>
              <a:rect r="r" b="b" t="t" l="l"/>
              <a:pathLst>
                <a:path h="214543" w="2494114">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w="38100" cap="rnd">
              <a:solidFill>
                <a:srgbClr val="101B40"/>
              </a:solidFill>
              <a:prstDash val="solid"/>
              <a:round/>
            </a:ln>
          </p:spPr>
        </p:sp>
        <p:sp>
          <p:nvSpPr>
            <p:cNvPr name="TextBox 4" id="4"/>
            <p:cNvSpPr txBox="true"/>
            <p:nvPr/>
          </p:nvSpPr>
          <p:spPr>
            <a:xfrm>
              <a:off x="0" y="-38100"/>
              <a:ext cx="2494114" cy="252643"/>
            </a:xfrm>
            <a:prstGeom prst="rect">
              <a:avLst/>
            </a:prstGeom>
          </p:spPr>
          <p:txBody>
            <a:bodyPr anchor="ctr" rtlCol="false" tIns="50800" lIns="50800" bIns="50800" rIns="50800"/>
            <a:lstStyle/>
            <a:p>
              <a:pPr algn="ctr" marL="0" indent="0" lvl="0">
                <a:lnSpc>
                  <a:spcPts val="2871"/>
                </a:lnSpc>
              </a:pPr>
            </a:p>
          </p:txBody>
        </p:sp>
      </p:grpSp>
      <p:grpSp>
        <p:nvGrpSpPr>
          <p:cNvPr name="Group 5" id="5"/>
          <p:cNvGrpSpPr/>
          <p:nvPr/>
        </p:nvGrpSpPr>
        <p:grpSpPr>
          <a:xfrm rot="0">
            <a:off x="9460786" y="628301"/>
            <a:ext cx="1665830" cy="588932"/>
            <a:chOff x="0" y="0"/>
            <a:chExt cx="438737" cy="155110"/>
          </a:xfrm>
        </p:grpSpPr>
        <p:sp>
          <p:nvSpPr>
            <p:cNvPr name="Freeform 6" id="6"/>
            <p:cNvSpPr/>
            <p:nvPr/>
          </p:nvSpPr>
          <p:spPr>
            <a:xfrm flipH="false" flipV="false" rot="0">
              <a:off x="0" y="0"/>
              <a:ext cx="438737" cy="155110"/>
            </a:xfrm>
            <a:custGeom>
              <a:avLst/>
              <a:gdLst/>
              <a:ahLst/>
              <a:cxnLst/>
              <a:rect r="r" b="b" t="t" l="l"/>
              <a:pathLst>
                <a:path h="155110" w="438737">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a:srgbClr val="101B40"/>
            </a:solidFill>
            <a:ln cap="rnd">
              <a:noFill/>
              <a:prstDash val="solid"/>
              <a:round/>
            </a:ln>
          </p:spPr>
        </p:sp>
        <p:sp>
          <p:nvSpPr>
            <p:cNvPr name="TextBox 7" id="7"/>
            <p:cNvSpPr txBox="true"/>
            <p:nvPr/>
          </p:nvSpPr>
          <p:spPr>
            <a:xfrm>
              <a:off x="0" y="-38100"/>
              <a:ext cx="438737" cy="193210"/>
            </a:xfrm>
            <a:prstGeom prst="rect">
              <a:avLst/>
            </a:prstGeom>
          </p:spPr>
          <p:txBody>
            <a:bodyPr anchor="ctr" rtlCol="false" tIns="50800" lIns="50800" bIns="50800" rIns="50800"/>
            <a:lstStyle/>
            <a:p>
              <a:pPr algn="ctr" marL="0" indent="0" lvl="0">
                <a:lnSpc>
                  <a:spcPts val="2871"/>
                </a:lnSpc>
              </a:pPr>
            </a:p>
          </p:txBody>
        </p:sp>
      </p:grpSp>
      <p:sp>
        <p:nvSpPr>
          <p:cNvPr name="Freeform 8" id="8"/>
          <p:cNvSpPr/>
          <p:nvPr/>
        </p:nvSpPr>
        <p:spPr>
          <a:xfrm flipH="false" flipV="false" rot="0">
            <a:off x="16736419" y="677760"/>
            <a:ext cx="522881" cy="443415"/>
          </a:xfrm>
          <a:custGeom>
            <a:avLst/>
            <a:gdLst/>
            <a:ahLst/>
            <a:cxnLst/>
            <a:rect r="r" b="b" t="t" l="l"/>
            <a:pathLst>
              <a:path h="443415" w="522881">
                <a:moveTo>
                  <a:pt x="0" y="0"/>
                </a:moveTo>
                <a:lnTo>
                  <a:pt x="522881" y="0"/>
                </a:lnTo>
                <a:lnTo>
                  <a:pt x="522881" y="443415"/>
                </a:lnTo>
                <a:lnTo>
                  <a:pt x="0" y="443415"/>
                </a:lnTo>
                <a:lnTo>
                  <a:pt x="0" y="0"/>
                </a:lnTo>
                <a:close/>
              </a:path>
            </a:pathLst>
          </a:custGeom>
          <a:blipFill>
            <a:blip r:embed="rId2">
              <a:extLst>
                <a:ext uri="{96DAC541-7B7A-43D3-8B79-37D633B846F1}">
                  <asvg:svgBlip xmlns:asvg="http://schemas.microsoft.com/office/drawing/2016/SVG/main" r:embed="rId3"/>
                </a:ext>
              </a:extLst>
            </a:blip>
            <a:stretch>
              <a:fillRect l="-962406" t="0" r="-308968" b="0"/>
            </a:stretch>
          </a:blipFill>
        </p:spPr>
      </p:sp>
      <p:sp>
        <p:nvSpPr>
          <p:cNvPr name="TextBox 9" id="9"/>
          <p:cNvSpPr txBox="true"/>
          <p:nvPr/>
        </p:nvSpPr>
        <p:spPr>
          <a:xfrm rot="0">
            <a:off x="4441856" y="729745"/>
            <a:ext cx="1662550" cy="306718"/>
          </a:xfrm>
          <a:prstGeom prst="rect">
            <a:avLst/>
          </a:prstGeom>
        </p:spPr>
        <p:txBody>
          <a:bodyPr anchor="t" rtlCol="false" tIns="0" lIns="0" bIns="0" rIns="0">
            <a:spAutoFit/>
          </a:bodyPr>
          <a:lstStyle/>
          <a:p>
            <a:pPr algn="ctr" marL="0" indent="0" lvl="0">
              <a:lnSpc>
                <a:spcPts val="2520"/>
              </a:lnSpc>
              <a:spcBef>
                <a:spcPct val="0"/>
              </a:spcBef>
            </a:pPr>
            <a:r>
              <a:rPr lang="en-US" sz="1800" spc="3">
                <a:solidFill>
                  <a:srgbClr val="101B40"/>
                </a:solidFill>
                <a:latin typeface="Montserrat"/>
                <a:ea typeface="Montserrat"/>
                <a:cs typeface="Montserrat"/>
                <a:sym typeface="Montserrat"/>
              </a:rPr>
              <a:t>HOME</a:t>
            </a:r>
          </a:p>
        </p:txBody>
      </p:sp>
      <p:sp>
        <p:nvSpPr>
          <p:cNvPr name="TextBox 10" id="10"/>
          <p:cNvSpPr txBox="true"/>
          <p:nvPr/>
        </p:nvSpPr>
        <p:spPr>
          <a:xfrm rot="0">
            <a:off x="6829803" y="731958"/>
            <a:ext cx="1907082" cy="306718"/>
          </a:xfrm>
          <a:prstGeom prst="rect">
            <a:avLst/>
          </a:prstGeom>
        </p:spPr>
        <p:txBody>
          <a:bodyPr anchor="t" rtlCol="false" tIns="0" lIns="0" bIns="0" rIns="0">
            <a:spAutoFit/>
          </a:bodyPr>
          <a:lstStyle/>
          <a:p>
            <a:pPr algn="ctr" marL="0" indent="0" lvl="0">
              <a:lnSpc>
                <a:spcPts val="2520"/>
              </a:lnSpc>
              <a:spcBef>
                <a:spcPct val="0"/>
              </a:spcBef>
            </a:pPr>
            <a:r>
              <a:rPr lang="en-US" sz="1800" spc="3">
                <a:solidFill>
                  <a:srgbClr val="101B40"/>
                </a:solidFill>
                <a:latin typeface="Montserrat"/>
                <a:ea typeface="Montserrat"/>
                <a:cs typeface="Montserrat"/>
                <a:sym typeface="Montserrat"/>
              </a:rPr>
              <a:t>ABOUT</a:t>
            </a:r>
          </a:p>
        </p:txBody>
      </p:sp>
      <p:sp>
        <p:nvSpPr>
          <p:cNvPr name="TextBox 11" id="11"/>
          <p:cNvSpPr txBox="true"/>
          <p:nvPr/>
        </p:nvSpPr>
        <p:spPr>
          <a:xfrm rot="0">
            <a:off x="9499106" y="741483"/>
            <a:ext cx="1589190" cy="280695"/>
          </a:xfrm>
          <a:prstGeom prst="rect">
            <a:avLst/>
          </a:prstGeom>
        </p:spPr>
        <p:txBody>
          <a:bodyPr anchor="t" rtlCol="false" tIns="0" lIns="0" bIns="0" rIns="0">
            <a:spAutoFit/>
          </a:bodyPr>
          <a:lstStyle/>
          <a:p>
            <a:pPr algn="ctr" marL="0" indent="0" lvl="0">
              <a:lnSpc>
                <a:spcPts val="2380"/>
              </a:lnSpc>
              <a:spcBef>
                <a:spcPct val="0"/>
              </a:spcBef>
            </a:pPr>
            <a:r>
              <a:rPr lang="en-US" b="true" sz="1700" spc="3">
                <a:solidFill>
                  <a:srgbClr val="F4F4F4"/>
                </a:solidFill>
                <a:latin typeface="Montserrat Bold"/>
                <a:ea typeface="Montserrat Bold"/>
                <a:cs typeface="Montserrat Bold"/>
                <a:sym typeface="Montserrat Bold"/>
              </a:rPr>
              <a:t>CONTENT</a:t>
            </a:r>
          </a:p>
        </p:txBody>
      </p:sp>
      <p:sp>
        <p:nvSpPr>
          <p:cNvPr name="TextBox 12" id="12"/>
          <p:cNvSpPr txBox="true"/>
          <p:nvPr/>
        </p:nvSpPr>
        <p:spPr>
          <a:xfrm rot="0">
            <a:off x="11594836" y="729745"/>
            <a:ext cx="2224975" cy="306718"/>
          </a:xfrm>
          <a:prstGeom prst="rect">
            <a:avLst/>
          </a:prstGeom>
        </p:spPr>
        <p:txBody>
          <a:bodyPr anchor="t" rtlCol="false" tIns="0" lIns="0" bIns="0" rIns="0">
            <a:spAutoFit/>
          </a:bodyPr>
          <a:lstStyle/>
          <a:p>
            <a:pPr algn="ctr" marL="0" indent="0" lvl="0">
              <a:lnSpc>
                <a:spcPts val="2520"/>
              </a:lnSpc>
              <a:spcBef>
                <a:spcPct val="0"/>
              </a:spcBef>
            </a:pPr>
            <a:r>
              <a:rPr lang="en-US" sz="1800" spc="3">
                <a:solidFill>
                  <a:srgbClr val="101B40"/>
                </a:solidFill>
                <a:latin typeface="Montserrat"/>
                <a:ea typeface="Montserrat"/>
                <a:cs typeface="Montserrat"/>
                <a:sym typeface="Montserrat"/>
              </a:rPr>
              <a:t>OTHERS</a:t>
            </a:r>
          </a:p>
        </p:txBody>
      </p:sp>
      <p:sp>
        <p:nvSpPr>
          <p:cNvPr name="TextBox 13" id="13"/>
          <p:cNvSpPr txBox="true"/>
          <p:nvPr/>
        </p:nvSpPr>
        <p:spPr>
          <a:xfrm rot="0">
            <a:off x="804572" y="627964"/>
            <a:ext cx="1888114" cy="561754"/>
          </a:xfrm>
          <a:prstGeom prst="rect">
            <a:avLst/>
          </a:prstGeom>
        </p:spPr>
        <p:txBody>
          <a:bodyPr anchor="t" rtlCol="false" tIns="0" lIns="0" bIns="0" rIns="0">
            <a:spAutoFit/>
          </a:bodyPr>
          <a:lstStyle/>
          <a:p>
            <a:pPr algn="l" marL="0" indent="0" lvl="0">
              <a:lnSpc>
                <a:spcPts val="2212"/>
              </a:lnSpc>
            </a:pPr>
            <a:r>
              <a:rPr lang="en-US" b="true" sz="2029" spc="4">
                <a:solidFill>
                  <a:srgbClr val="101B40"/>
                </a:solidFill>
                <a:latin typeface="Montserrat Bold"/>
                <a:ea typeface="Montserrat Bold"/>
                <a:cs typeface="Montserrat Bold"/>
                <a:sym typeface="Montserrat Bold"/>
              </a:rPr>
              <a:t>GIALAI</a:t>
            </a:r>
          </a:p>
          <a:p>
            <a:pPr algn="l" marL="0" indent="0" lvl="0">
              <a:lnSpc>
                <a:spcPts val="2212"/>
              </a:lnSpc>
            </a:pPr>
            <a:r>
              <a:rPr lang="en-US" b="true" sz="2029" spc="4">
                <a:solidFill>
                  <a:srgbClr val="101B40"/>
                </a:solidFill>
                <a:latin typeface="Montserrat Bold"/>
                <a:ea typeface="Montserrat Bold"/>
                <a:cs typeface="Montserrat Bold"/>
                <a:sym typeface="Montserrat Bold"/>
              </a:rPr>
              <a:t>ECOCHAIN 1.0</a:t>
            </a:r>
          </a:p>
        </p:txBody>
      </p:sp>
      <p:grpSp>
        <p:nvGrpSpPr>
          <p:cNvPr name="Group 14" id="14"/>
          <p:cNvGrpSpPr/>
          <p:nvPr/>
        </p:nvGrpSpPr>
        <p:grpSpPr>
          <a:xfrm rot="0">
            <a:off x="0" y="7254052"/>
            <a:ext cx="18288000" cy="3032948"/>
            <a:chOff x="0" y="0"/>
            <a:chExt cx="4816593" cy="798801"/>
          </a:xfrm>
        </p:grpSpPr>
        <p:sp>
          <p:nvSpPr>
            <p:cNvPr name="Freeform 15" id="15"/>
            <p:cNvSpPr/>
            <p:nvPr/>
          </p:nvSpPr>
          <p:spPr>
            <a:xfrm flipH="false" flipV="false" rot="0">
              <a:off x="0" y="0"/>
              <a:ext cx="4816592" cy="798801"/>
            </a:xfrm>
            <a:custGeom>
              <a:avLst/>
              <a:gdLst/>
              <a:ahLst/>
              <a:cxnLst/>
              <a:rect r="r" b="b" t="t" l="l"/>
              <a:pathLst>
                <a:path h="798801" w="4816592">
                  <a:moveTo>
                    <a:pt x="21590" y="0"/>
                  </a:moveTo>
                  <a:lnTo>
                    <a:pt x="4795002" y="0"/>
                  </a:lnTo>
                  <a:cubicBezTo>
                    <a:pt x="4800728" y="0"/>
                    <a:pt x="4806220" y="2275"/>
                    <a:pt x="4810269" y="6324"/>
                  </a:cubicBezTo>
                  <a:cubicBezTo>
                    <a:pt x="4814318" y="10372"/>
                    <a:pt x="4816592" y="15864"/>
                    <a:pt x="4816592" y="21590"/>
                  </a:cubicBezTo>
                  <a:lnTo>
                    <a:pt x="4816592" y="777211"/>
                  </a:lnTo>
                  <a:cubicBezTo>
                    <a:pt x="4816592" y="789135"/>
                    <a:pt x="4806926" y="798801"/>
                    <a:pt x="4795002" y="798801"/>
                  </a:cubicBezTo>
                  <a:lnTo>
                    <a:pt x="21590" y="798801"/>
                  </a:lnTo>
                  <a:cubicBezTo>
                    <a:pt x="15864" y="798801"/>
                    <a:pt x="10372" y="796526"/>
                    <a:pt x="6324" y="792478"/>
                  </a:cubicBezTo>
                  <a:cubicBezTo>
                    <a:pt x="2275" y="788429"/>
                    <a:pt x="0" y="782937"/>
                    <a:pt x="0" y="777211"/>
                  </a:cubicBezTo>
                  <a:lnTo>
                    <a:pt x="0" y="21590"/>
                  </a:lnTo>
                  <a:cubicBezTo>
                    <a:pt x="0" y="9666"/>
                    <a:pt x="9666" y="0"/>
                    <a:pt x="21590" y="0"/>
                  </a:cubicBezTo>
                  <a:close/>
                </a:path>
              </a:pathLst>
            </a:custGeom>
            <a:solidFill>
              <a:srgbClr val="DCE2EB"/>
            </a:solidFill>
          </p:spPr>
        </p:sp>
        <p:sp>
          <p:nvSpPr>
            <p:cNvPr name="TextBox 16" id="16"/>
            <p:cNvSpPr txBox="true"/>
            <p:nvPr/>
          </p:nvSpPr>
          <p:spPr>
            <a:xfrm>
              <a:off x="0" y="-38100"/>
              <a:ext cx="4816593" cy="836901"/>
            </a:xfrm>
            <a:prstGeom prst="rect">
              <a:avLst/>
            </a:prstGeom>
          </p:spPr>
          <p:txBody>
            <a:bodyPr anchor="ctr" rtlCol="false" tIns="50800" lIns="50800" bIns="50800" rIns="50800"/>
            <a:lstStyle/>
            <a:p>
              <a:pPr algn="ctr" marL="0" indent="0" lvl="0">
                <a:lnSpc>
                  <a:spcPts val="2591"/>
                </a:lnSpc>
              </a:pPr>
            </a:p>
          </p:txBody>
        </p:sp>
      </p:grpSp>
      <p:sp>
        <p:nvSpPr>
          <p:cNvPr name="TextBox 17" id="17"/>
          <p:cNvSpPr txBox="true"/>
          <p:nvPr/>
        </p:nvSpPr>
        <p:spPr>
          <a:xfrm rot="0">
            <a:off x="1288746" y="2310909"/>
            <a:ext cx="7448140" cy="597337"/>
          </a:xfrm>
          <a:prstGeom prst="rect">
            <a:avLst/>
          </a:prstGeom>
        </p:spPr>
        <p:txBody>
          <a:bodyPr anchor="t" rtlCol="false" tIns="0" lIns="0" bIns="0" rIns="0">
            <a:spAutoFit/>
          </a:bodyPr>
          <a:lstStyle/>
          <a:p>
            <a:pPr algn="just" marL="0" indent="0" lvl="0">
              <a:lnSpc>
                <a:spcPts val="4875"/>
              </a:lnSpc>
              <a:spcBef>
                <a:spcPct val="0"/>
              </a:spcBef>
            </a:pPr>
            <a:r>
              <a:rPr lang="en-US" sz="3482" spc="-202">
                <a:solidFill>
                  <a:srgbClr val="101B40"/>
                </a:solidFill>
                <a:latin typeface="Montserrat"/>
                <a:ea typeface="Montserrat"/>
                <a:cs typeface="Montserrat"/>
                <a:sym typeface="Montserrat"/>
              </a:rPr>
              <a:t>Kết Luận</a:t>
            </a:r>
          </a:p>
        </p:txBody>
      </p:sp>
      <p:sp>
        <p:nvSpPr>
          <p:cNvPr name="TextBox 18" id="18"/>
          <p:cNvSpPr txBox="true"/>
          <p:nvPr/>
        </p:nvSpPr>
        <p:spPr>
          <a:xfrm rot="0">
            <a:off x="1288746" y="3401538"/>
            <a:ext cx="6494599" cy="1676804"/>
          </a:xfrm>
          <a:prstGeom prst="rect">
            <a:avLst/>
          </a:prstGeom>
        </p:spPr>
        <p:txBody>
          <a:bodyPr anchor="t" rtlCol="false" tIns="0" lIns="0" bIns="0" rIns="0">
            <a:spAutoFit/>
          </a:bodyPr>
          <a:lstStyle/>
          <a:p>
            <a:pPr algn="just" marL="0" indent="0" lvl="0">
              <a:lnSpc>
                <a:spcPts val="4337"/>
              </a:lnSpc>
            </a:pPr>
            <a:r>
              <a:rPr lang="en-US" b="true" sz="4819" spc="-279">
                <a:solidFill>
                  <a:srgbClr val="101B40"/>
                </a:solidFill>
                <a:latin typeface="Montserrat Bold"/>
                <a:ea typeface="Montserrat Bold"/>
                <a:cs typeface="Montserrat Bold"/>
                <a:sym typeface="Montserrat Bold"/>
              </a:rPr>
              <a:t>GIALAI EcoChain 1.0 —</a:t>
            </a:r>
          </a:p>
          <a:p>
            <a:pPr algn="just" marL="0" indent="0" lvl="0">
              <a:lnSpc>
                <a:spcPts val="4337"/>
              </a:lnSpc>
            </a:pPr>
            <a:r>
              <a:rPr lang="en-US" b="true" sz="4819" spc="-279">
                <a:solidFill>
                  <a:srgbClr val="101B40"/>
                </a:solidFill>
                <a:latin typeface="Montserrat Bold"/>
                <a:ea typeface="Montserrat Bold"/>
                <a:cs typeface="Montserrat Bold"/>
                <a:sym typeface="Montserrat Bold"/>
              </a:rPr>
              <a:t> Từ thực tế đến quyết định</a:t>
            </a:r>
          </a:p>
        </p:txBody>
      </p:sp>
      <p:sp>
        <p:nvSpPr>
          <p:cNvPr name="Freeform 19" id="19"/>
          <p:cNvSpPr/>
          <p:nvPr/>
        </p:nvSpPr>
        <p:spPr>
          <a:xfrm flipH="false" flipV="false" rot="0">
            <a:off x="12893757" y="1524430"/>
            <a:ext cx="2384513" cy="2624556"/>
          </a:xfrm>
          <a:custGeom>
            <a:avLst/>
            <a:gdLst/>
            <a:ahLst/>
            <a:cxnLst/>
            <a:rect r="r" b="b" t="t" l="l"/>
            <a:pathLst>
              <a:path h="2624556" w="2384513">
                <a:moveTo>
                  <a:pt x="0" y="0"/>
                </a:moveTo>
                <a:lnTo>
                  <a:pt x="2384513" y="0"/>
                </a:lnTo>
                <a:lnTo>
                  <a:pt x="2384513" y="2624555"/>
                </a:lnTo>
                <a:lnTo>
                  <a:pt x="0" y="2624555"/>
                </a:lnTo>
                <a:lnTo>
                  <a:pt x="0" y="0"/>
                </a:lnTo>
                <a:close/>
              </a:path>
            </a:pathLst>
          </a:custGeom>
          <a:blipFill>
            <a:blip r:embed="rId4"/>
            <a:stretch>
              <a:fillRect l="0" t="0" r="-4150" b="0"/>
            </a:stretch>
          </a:blipFill>
        </p:spPr>
      </p:sp>
      <p:sp>
        <p:nvSpPr>
          <p:cNvPr name="Freeform 20" id="20"/>
          <p:cNvSpPr/>
          <p:nvPr/>
        </p:nvSpPr>
        <p:spPr>
          <a:xfrm flipH="false" flipV="false" rot="0">
            <a:off x="7641636" y="1349582"/>
            <a:ext cx="5776418" cy="8356482"/>
          </a:xfrm>
          <a:custGeom>
            <a:avLst/>
            <a:gdLst/>
            <a:ahLst/>
            <a:cxnLst/>
            <a:rect r="r" b="b" t="t" l="l"/>
            <a:pathLst>
              <a:path h="8356482" w="5776418">
                <a:moveTo>
                  <a:pt x="0" y="0"/>
                </a:moveTo>
                <a:lnTo>
                  <a:pt x="5776418" y="0"/>
                </a:lnTo>
                <a:lnTo>
                  <a:pt x="5776418" y="8356482"/>
                </a:lnTo>
                <a:lnTo>
                  <a:pt x="0" y="8356482"/>
                </a:lnTo>
                <a:lnTo>
                  <a:pt x="0" y="0"/>
                </a:lnTo>
                <a:close/>
              </a:path>
            </a:pathLst>
          </a:custGeom>
          <a:blipFill>
            <a:blip r:embed="rId5"/>
            <a:stretch>
              <a:fillRect l="0" t="0" r="0" b="0"/>
            </a:stretch>
          </a:blipFill>
        </p:spPr>
      </p:sp>
      <p:sp>
        <p:nvSpPr>
          <p:cNvPr name="TextBox 21" id="21"/>
          <p:cNvSpPr txBox="true"/>
          <p:nvPr/>
        </p:nvSpPr>
        <p:spPr>
          <a:xfrm rot="0">
            <a:off x="13819811" y="4333827"/>
            <a:ext cx="3412299" cy="2531491"/>
          </a:xfrm>
          <a:prstGeom prst="rect">
            <a:avLst/>
          </a:prstGeom>
        </p:spPr>
        <p:txBody>
          <a:bodyPr anchor="t" rtlCol="false" tIns="0" lIns="0" bIns="0" rIns="0">
            <a:spAutoFit/>
          </a:bodyPr>
          <a:lstStyle/>
          <a:p>
            <a:pPr algn="just" marL="0" indent="0" lvl="0">
              <a:lnSpc>
                <a:spcPts val="2851"/>
              </a:lnSpc>
            </a:pPr>
            <a:r>
              <a:rPr lang="en-US" sz="2299" spc="-147">
                <a:solidFill>
                  <a:srgbClr val="000000"/>
                </a:solidFill>
                <a:latin typeface="Montserrat"/>
                <a:ea typeface="Montserrat"/>
                <a:cs typeface="Montserrat"/>
                <a:sym typeface="Montserrat"/>
              </a:rPr>
              <a:t>GIALAI EcoChain 1.0 là nền tảng AI/GIS tích hợp toàn diện — từ dữ liệu thực tế đến hỗ trợ ra quyết định. Cảm ơn quý vị đã lắng nghe. Trân trọng mời đặt câu hỏi và trao đổi.</a:t>
            </a:r>
          </a:p>
        </p:txBody>
      </p:sp>
      <p:sp>
        <p:nvSpPr>
          <p:cNvPr name="Freeform 22" id="22"/>
          <p:cNvSpPr/>
          <p:nvPr/>
        </p:nvSpPr>
        <p:spPr>
          <a:xfrm flipH="false" flipV="false" rot="0">
            <a:off x="15479556" y="7690208"/>
            <a:ext cx="2160637" cy="2160637"/>
          </a:xfrm>
          <a:custGeom>
            <a:avLst/>
            <a:gdLst/>
            <a:ahLst/>
            <a:cxnLst/>
            <a:rect r="r" b="b" t="t" l="l"/>
            <a:pathLst>
              <a:path h="2160637" w="2160637">
                <a:moveTo>
                  <a:pt x="0" y="0"/>
                </a:moveTo>
                <a:lnTo>
                  <a:pt x="2160637" y="0"/>
                </a:lnTo>
                <a:lnTo>
                  <a:pt x="2160637" y="2160636"/>
                </a:lnTo>
                <a:lnTo>
                  <a:pt x="0" y="21606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DAHW6qDmPKc</dc:identifier>
  <dcterms:modified xsi:type="dcterms:W3CDTF">2011-08-01T06:04:30Z</dcterms:modified>
  <cp:revision>1</cp:revision>
  <dc:title>GIALAI EcoChain</dc:title>
</cp:coreProperties>
</file>